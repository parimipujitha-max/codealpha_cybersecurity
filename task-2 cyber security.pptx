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Anton"/>
      <p:regular r:id="rId8"/>
    </p:embeddedFont>
    <p:embeddedFont>
      <p:font typeface="Fira Sans"/>
      <p:regular r:id="rId9"/>
    </p:embeddedFont>
    <p:embeddedFont>
      <p:font typeface="Fira Sans Bold"/>
      <p:regular r:id="rId1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image" Target="../media/image-1-27.png"/><Relationship Id="rId28" Type="http://schemas.openxmlformats.org/officeDocument/2006/relationships/image" Target="../media/image-1-28.svg"/><Relationship Id="rId29" Type="http://schemas.openxmlformats.org/officeDocument/2006/relationships/image" Target="../media/image-1-29.png"/><Relationship Id="rId30" Type="http://schemas.openxmlformats.org/officeDocument/2006/relationships/image" Target="../media/image-1-30.svg"/><Relationship Id="rId31" Type="http://schemas.openxmlformats.org/officeDocument/2006/relationships/image" Target="../media/image-1-31.png"/><Relationship Id="rId32" Type="http://schemas.openxmlformats.org/officeDocument/2006/relationships/image" Target="../media/image-1-32.sv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svg"/><Relationship Id="rId39" Type="http://schemas.openxmlformats.org/officeDocument/2006/relationships/image" Target="../media/image-1-39.png"/><Relationship Id="rId40" Type="http://schemas.openxmlformats.org/officeDocument/2006/relationships/image" Target="../media/image-1-40.svg"/><Relationship Id="rId41" Type="http://schemas.openxmlformats.org/officeDocument/2006/relationships/image" Target="../media/image-1-41.png"/><Relationship Id="rId42" Type="http://schemas.openxmlformats.org/officeDocument/2006/relationships/image" Target="../media/image-1-42.svg"/><Relationship Id="rId43" Type="http://schemas.openxmlformats.org/officeDocument/2006/relationships/image" Target="../media/image-1-43.png"/><Relationship Id="rId44" Type="http://schemas.openxmlformats.org/officeDocument/2006/relationships/image" Target="../media/image-1-44.svg"/><Relationship Id="rId45" Type="http://schemas.openxmlformats.org/officeDocument/2006/relationships/image" Target="../media/image-1-45.png"/><Relationship Id="rId46" Type="http://schemas.openxmlformats.org/officeDocument/2006/relationships/image" Target="../media/image-1-46.svg"/><Relationship Id="rId47" Type="http://schemas.openxmlformats.org/officeDocument/2006/relationships/image" Target="../media/image-1-47.png"/><Relationship Id="rId48" Type="http://schemas.openxmlformats.org/officeDocument/2006/relationships/image" Target="../media/image-1-48.svg"/><Relationship Id="rId49" Type="http://schemas.openxmlformats.org/officeDocument/2006/relationships/image" Target="../media/image-1-49.png"/><Relationship Id="rId50" Type="http://schemas.openxmlformats.org/officeDocument/2006/relationships/image" Target="../media/image-1-50.svg"/><Relationship Id="rId51" Type="http://schemas.openxmlformats.org/officeDocument/2006/relationships/slideLayout" Target="../slideLayouts/slideLayout2.xml"/><Relationship Id="rId5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62200" y="152400"/>
            <a:ext cx="4419600" cy="20189205"/>
          </a:xfrm>
          <a:prstGeom prst="roundRect">
            <a:avLst>
              <a:gd name="adj" fmla="val 203"/>
            </a:avLst>
          </a:prstGeom>
          <a:solidFill>
            <a:srgbClr val="1F1F1F"/>
          </a:solidFill>
          <a:ln/>
        </p:spPr>
      </p:sp>
      <p:sp>
        <p:nvSpPr>
          <p:cNvPr id="3" name="Text 1"/>
          <p:cNvSpPr/>
          <p:nvPr/>
        </p:nvSpPr>
        <p:spPr>
          <a:xfrm>
            <a:off x="2601962" y="317227"/>
            <a:ext cx="2190304" cy="18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Phishing Awareness Training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2601962" y="516508"/>
            <a:ext cx="2051819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1B54D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How to Recognize Phishing Emails and Fake Websites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2601962" y="655067"/>
            <a:ext cx="4397276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Prepared by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Parimi Pujitha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· Internship: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CodeAlpha</a:t>
            </a:r>
            <a:endParaRPr lang="en-US" sz="450" dirty="0"/>
          </a:p>
        </p:txBody>
      </p:sp>
      <p:sp>
        <p:nvSpPr>
          <p:cNvPr id="6" name="Shape 4"/>
          <p:cNvSpPr/>
          <p:nvPr/>
        </p:nvSpPr>
        <p:spPr>
          <a:xfrm>
            <a:off x="2601962" y="765497"/>
            <a:ext cx="483171" cy="93464"/>
          </a:xfrm>
          <a:prstGeom prst="roundRect">
            <a:avLst>
              <a:gd name="adj" fmla="val 7698"/>
            </a:avLst>
          </a:prstGeom>
          <a:solidFill>
            <a:srgbClr val="49031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37904" y="788268"/>
            <a:ext cx="47923" cy="479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09788" y="783431"/>
            <a:ext cx="796603" cy="5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CYBERSECURITY</a:t>
            </a:r>
            <a:endParaRPr lang="en-US" sz="350" dirty="0"/>
          </a:p>
        </p:txBody>
      </p:sp>
      <p:sp>
        <p:nvSpPr>
          <p:cNvPr id="9" name="Shape 6"/>
          <p:cNvSpPr/>
          <p:nvPr/>
        </p:nvSpPr>
        <p:spPr>
          <a:xfrm>
            <a:off x="3115047" y="760735"/>
            <a:ext cx="394692" cy="102989"/>
          </a:xfrm>
          <a:prstGeom prst="roundRect">
            <a:avLst>
              <a:gd name="adj" fmla="val 6986"/>
            </a:avLst>
          </a:prstGeom>
          <a:noFill/>
          <a:ln w="4763">
            <a:solidFill>
              <a:srgbClr val="FA95A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55752" y="788268"/>
            <a:ext cx="47923" cy="479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27636" y="783431"/>
            <a:ext cx="698599" cy="5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STAY ALERT</a:t>
            </a:r>
            <a:endParaRPr lang="en-US" sz="350" dirty="0"/>
          </a:p>
        </p:txBody>
      </p:sp>
      <p:sp>
        <p:nvSpPr>
          <p:cNvPr id="12" name="Shape 8"/>
          <p:cNvSpPr/>
          <p:nvPr/>
        </p:nvSpPr>
        <p:spPr>
          <a:xfrm>
            <a:off x="3539654" y="760735"/>
            <a:ext cx="572467" cy="102989"/>
          </a:xfrm>
          <a:prstGeom prst="roundRect">
            <a:avLst>
              <a:gd name="adj" fmla="val 6986"/>
            </a:avLst>
          </a:prstGeom>
          <a:noFill/>
          <a:ln w="4763">
            <a:solidFill>
              <a:srgbClr val="FA95A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80358" y="788268"/>
            <a:ext cx="47923" cy="4792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52242" y="783431"/>
            <a:ext cx="876374" cy="5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PROTECT YOURSELF</a:t>
            </a:r>
            <a:endParaRPr lang="en-US" sz="350" dirty="0"/>
          </a:p>
        </p:txBody>
      </p:sp>
      <p:sp>
        <p:nvSpPr>
          <p:cNvPr id="15" name="Text 10"/>
          <p:cNvSpPr/>
          <p:nvPr/>
        </p:nvSpPr>
        <p:spPr>
          <a:xfrm>
            <a:off x="2601962" y="897434"/>
            <a:ext cx="3940076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Phishing is a cyberattack where attackers impersonate trusted entities to steal passwords, OTPs, banking details, and personal data. It causes financial loss, identity theft, malware infections, and organizational damage.</a:t>
            </a:r>
            <a:endParaRPr lang="en-US" sz="450" dirty="0"/>
          </a:p>
        </p:txBody>
      </p:sp>
      <p:sp>
        <p:nvSpPr>
          <p:cNvPr id="16" name="Text 11"/>
          <p:cNvSpPr/>
          <p:nvPr/>
        </p:nvSpPr>
        <p:spPr>
          <a:xfrm>
            <a:off x="2601962" y="1086296"/>
            <a:ext cx="1689199" cy="14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Types of Phishing Attacks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01962" y="1281038"/>
            <a:ext cx="119881" cy="11988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601962" y="1438349"/>
            <a:ext cx="749424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Email Phishing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2601962" y="1549896"/>
            <a:ext cx="1288405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Fake emails with malicious links</a:t>
            </a:r>
            <a:endParaRPr lang="en-US" sz="4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27797" y="1281038"/>
            <a:ext cx="119881" cy="11988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927797" y="1438349"/>
            <a:ext cx="749424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Spear Phishing</a:t>
            </a:r>
            <a:endParaRPr lang="en-US" sz="550" dirty="0"/>
          </a:p>
        </p:txBody>
      </p:sp>
      <p:sp>
        <p:nvSpPr>
          <p:cNvPr id="22" name="Text 15"/>
          <p:cNvSpPr/>
          <p:nvPr/>
        </p:nvSpPr>
        <p:spPr>
          <a:xfrm>
            <a:off x="3927797" y="1549896"/>
            <a:ext cx="1288405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Personalized attacks on specific targets</a:t>
            </a:r>
            <a:endParaRPr lang="en-US" sz="4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53633" y="1281038"/>
            <a:ext cx="119881" cy="11988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253633" y="1438349"/>
            <a:ext cx="749424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Smishing</a:t>
            </a:r>
            <a:endParaRPr lang="en-US" sz="550" dirty="0"/>
          </a:p>
        </p:txBody>
      </p:sp>
      <p:sp>
        <p:nvSpPr>
          <p:cNvPr id="25" name="Text 17"/>
          <p:cNvSpPr/>
          <p:nvPr/>
        </p:nvSpPr>
        <p:spPr>
          <a:xfrm>
            <a:off x="5253633" y="1549896"/>
            <a:ext cx="1288405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Phishing via SMS/text messages</a:t>
            </a:r>
            <a:endParaRPr lang="en-US" sz="45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01962" y="1681758"/>
            <a:ext cx="119881" cy="119881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601962" y="1839069"/>
            <a:ext cx="749424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Vishing</a:t>
            </a:r>
            <a:endParaRPr lang="en-US" sz="550" dirty="0"/>
          </a:p>
        </p:txBody>
      </p:sp>
      <p:sp>
        <p:nvSpPr>
          <p:cNvPr id="28" name="Text 19"/>
          <p:cNvSpPr/>
          <p:nvPr/>
        </p:nvSpPr>
        <p:spPr>
          <a:xfrm>
            <a:off x="2601962" y="1950616"/>
            <a:ext cx="1288405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Voice calls impersonating trusted parties</a:t>
            </a:r>
            <a:endParaRPr lang="en-US" sz="4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927797" y="1681758"/>
            <a:ext cx="119881" cy="11988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927797" y="1839069"/>
            <a:ext cx="749424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Fake Website Phishing</a:t>
            </a:r>
            <a:endParaRPr lang="en-US" sz="550" dirty="0"/>
          </a:p>
        </p:txBody>
      </p:sp>
      <p:sp>
        <p:nvSpPr>
          <p:cNvPr id="31" name="Text 21"/>
          <p:cNvSpPr/>
          <p:nvPr/>
        </p:nvSpPr>
        <p:spPr>
          <a:xfrm>
            <a:off x="3927797" y="1950616"/>
            <a:ext cx="1288405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Fraudulent sites stealing credentials</a:t>
            </a:r>
            <a:endParaRPr lang="en-US" sz="45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53633" y="1681758"/>
            <a:ext cx="119881" cy="119881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253633" y="1839069"/>
            <a:ext cx="749424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Social Media Phishing</a:t>
            </a:r>
            <a:endParaRPr lang="en-US" sz="550" dirty="0"/>
          </a:p>
        </p:txBody>
      </p:sp>
      <p:sp>
        <p:nvSpPr>
          <p:cNvPr id="34" name="Text 23"/>
          <p:cNvSpPr/>
          <p:nvPr/>
        </p:nvSpPr>
        <p:spPr>
          <a:xfrm>
            <a:off x="5253633" y="1950616"/>
            <a:ext cx="1288405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Attacks through fake profiles and messages</a:t>
            </a:r>
            <a:endParaRPr lang="en-US" sz="45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601962" y="2082478"/>
            <a:ext cx="119881" cy="11988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2601962" y="2239789"/>
            <a:ext cx="749424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Quishing</a:t>
            </a:r>
            <a:endParaRPr lang="en-US" sz="550" dirty="0"/>
          </a:p>
        </p:txBody>
      </p:sp>
      <p:sp>
        <p:nvSpPr>
          <p:cNvPr id="37" name="Text 25"/>
          <p:cNvSpPr/>
          <p:nvPr/>
        </p:nvSpPr>
        <p:spPr>
          <a:xfrm>
            <a:off x="2601962" y="2351336"/>
            <a:ext cx="1288405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Malicious QR codes redirecting to harmful sites</a:t>
            </a:r>
            <a:endParaRPr lang="en-US" sz="450" dirty="0"/>
          </a:p>
        </p:txBody>
      </p:sp>
      <p:sp>
        <p:nvSpPr>
          <p:cNvPr id="38" name="Text 26"/>
          <p:cNvSpPr/>
          <p:nvPr/>
        </p:nvSpPr>
        <p:spPr>
          <a:xfrm>
            <a:off x="2601962" y="2468240"/>
            <a:ext cx="1715988" cy="14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How Phishing Emails Work</a:t>
            </a:r>
            <a:endParaRPr lang="en-US" sz="9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01962" y="2662982"/>
            <a:ext cx="3940076" cy="2232645"/>
          </a:xfrm>
          <a:prstGeom prst="rect">
            <a:avLst/>
          </a:prstGeom>
        </p:spPr>
      </p:pic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01962" y="2662982"/>
            <a:ext cx="3940076" cy="2232645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2601962" y="4929336"/>
            <a:ext cx="4397276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Each step exploits human psychology — urgency, fear, and trust — to bypass rational thinking and steal sensitive information.</a:t>
            </a:r>
            <a:endParaRPr lang="en-US" sz="450" dirty="0"/>
          </a:p>
        </p:txBody>
      </p:sp>
      <p:sp>
        <p:nvSpPr>
          <p:cNvPr id="42" name="Text 28"/>
          <p:cNvSpPr/>
          <p:nvPr/>
        </p:nvSpPr>
        <p:spPr>
          <a:xfrm>
            <a:off x="2601962" y="5046241"/>
            <a:ext cx="1656308" cy="14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Signs of a Phishing Email</a:t>
            </a:r>
            <a:endParaRPr lang="en-US" sz="900" dirty="0"/>
          </a:p>
        </p:txBody>
      </p:sp>
      <p:sp>
        <p:nvSpPr>
          <p:cNvPr id="43" name="Shape 29"/>
          <p:cNvSpPr/>
          <p:nvPr/>
        </p:nvSpPr>
        <p:spPr>
          <a:xfrm>
            <a:off x="2558802" y="5240982"/>
            <a:ext cx="1983284" cy="882997"/>
          </a:xfrm>
          <a:prstGeom prst="roundRect">
            <a:avLst>
              <a:gd name="adj" fmla="val 1019"/>
            </a:avLst>
          </a:prstGeom>
          <a:solidFill>
            <a:srgbClr val="1B54DA"/>
          </a:solidFill>
          <a:ln/>
        </p:spPr>
      </p:sp>
      <p:sp>
        <p:nvSpPr>
          <p:cNvPr id="44" name="Text 30"/>
          <p:cNvSpPr/>
          <p:nvPr/>
        </p:nvSpPr>
        <p:spPr>
          <a:xfrm>
            <a:off x="2618705" y="5270897"/>
            <a:ext cx="1245543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🚨</a:t>
            </a:r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Red Flags to Watch For</a:t>
            </a:r>
            <a:endParaRPr lang="en-US" sz="550" dirty="0"/>
          </a:p>
        </p:txBody>
      </p:sp>
      <p:sp>
        <p:nvSpPr>
          <p:cNvPr id="45" name="Text 31"/>
          <p:cNvSpPr/>
          <p:nvPr/>
        </p:nvSpPr>
        <p:spPr>
          <a:xfrm>
            <a:off x="2618705" y="5399187"/>
            <a:ext cx="1863477" cy="48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Suspicious sender address (e.g., @gmai1.com)</a:t>
            </a:r>
            <a:endParaRPr lang="en-US" sz="4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Grammar mistakes and poor formatting</a:t>
            </a:r>
            <a:endParaRPr lang="en-US" sz="4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Urgent or threatening language</a:t>
            </a:r>
            <a:endParaRPr lang="en-US" sz="4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Fake or mismatched links</a:t>
            </a:r>
            <a:endParaRPr lang="en-US" sz="4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Unknown attachments</a:t>
            </a:r>
            <a:endParaRPr lang="en-US" sz="4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Requests for OTPs or passwords</a:t>
            </a:r>
            <a:endParaRPr lang="en-US" sz="450" dirty="0"/>
          </a:p>
        </p:txBody>
      </p:sp>
      <p:sp>
        <p:nvSpPr>
          <p:cNvPr id="46" name="Text 32"/>
          <p:cNvSpPr/>
          <p:nvPr/>
        </p:nvSpPr>
        <p:spPr>
          <a:xfrm>
            <a:off x="4649837" y="5270897"/>
            <a:ext cx="1206624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Real vs. Fake Email</a:t>
            </a:r>
            <a:endParaRPr lang="en-US" sz="550" dirty="0"/>
          </a:p>
        </p:txBody>
      </p:sp>
      <p:sp>
        <p:nvSpPr>
          <p:cNvPr id="47" name="Shape 33"/>
          <p:cNvSpPr/>
          <p:nvPr/>
        </p:nvSpPr>
        <p:spPr>
          <a:xfrm>
            <a:off x="4649837" y="5402982"/>
            <a:ext cx="1896963" cy="687288"/>
          </a:xfrm>
          <a:prstGeom prst="roundRect">
            <a:avLst>
              <a:gd name="adj" fmla="val 130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8" name="Text 34"/>
          <p:cNvSpPr/>
          <p:nvPr/>
        </p:nvSpPr>
        <p:spPr>
          <a:xfrm>
            <a:off x="4714503" y="5430441"/>
            <a:ext cx="1278731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Real Email</a:t>
            </a:r>
            <a:endParaRPr lang="en-US" sz="450" dirty="0"/>
          </a:p>
        </p:txBody>
      </p:sp>
      <p:sp>
        <p:nvSpPr>
          <p:cNvPr id="49" name="Text 35"/>
          <p:cNvSpPr/>
          <p:nvPr/>
        </p:nvSpPr>
        <p:spPr>
          <a:xfrm>
            <a:off x="5660603" y="5430441"/>
            <a:ext cx="1278731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Fake Email</a:t>
            </a:r>
            <a:endParaRPr lang="en-US" sz="450" dirty="0"/>
          </a:p>
        </p:txBody>
      </p:sp>
      <p:sp>
        <p:nvSpPr>
          <p:cNvPr id="50" name="Text 36"/>
          <p:cNvSpPr/>
          <p:nvPr/>
        </p:nvSpPr>
        <p:spPr>
          <a:xfrm>
            <a:off x="4714503" y="5552554"/>
            <a:ext cx="1278731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Official domain (@bank.com)</a:t>
            </a:r>
            <a:endParaRPr lang="en-US" sz="450" dirty="0"/>
          </a:p>
        </p:txBody>
      </p:sp>
      <p:sp>
        <p:nvSpPr>
          <p:cNvPr id="51" name="Text 37"/>
          <p:cNvSpPr/>
          <p:nvPr/>
        </p:nvSpPr>
        <p:spPr>
          <a:xfrm>
            <a:off x="5660603" y="5552554"/>
            <a:ext cx="821531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Misspelled domain (@bank-secure.xyz)</a:t>
            </a:r>
            <a:endParaRPr lang="en-US" sz="450" dirty="0"/>
          </a:p>
        </p:txBody>
      </p:sp>
      <p:sp>
        <p:nvSpPr>
          <p:cNvPr id="52" name="Text 38"/>
          <p:cNvSpPr/>
          <p:nvPr/>
        </p:nvSpPr>
        <p:spPr>
          <a:xfrm>
            <a:off x="4714503" y="5746626"/>
            <a:ext cx="1278731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Professional tone</a:t>
            </a:r>
            <a:endParaRPr lang="en-US" sz="450" dirty="0"/>
          </a:p>
        </p:txBody>
      </p:sp>
      <p:sp>
        <p:nvSpPr>
          <p:cNvPr id="53" name="Text 39"/>
          <p:cNvSpPr/>
          <p:nvPr/>
        </p:nvSpPr>
        <p:spPr>
          <a:xfrm>
            <a:off x="5660603" y="5746626"/>
            <a:ext cx="1278731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Urgent, threatening language</a:t>
            </a:r>
            <a:endParaRPr lang="en-US" sz="450" dirty="0"/>
          </a:p>
        </p:txBody>
      </p:sp>
      <p:sp>
        <p:nvSpPr>
          <p:cNvPr id="54" name="Text 40"/>
          <p:cNvSpPr/>
          <p:nvPr/>
        </p:nvSpPr>
        <p:spPr>
          <a:xfrm>
            <a:off x="4714503" y="5868739"/>
            <a:ext cx="1278731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 password requests</a:t>
            </a:r>
            <a:endParaRPr lang="en-US" sz="450" dirty="0"/>
          </a:p>
        </p:txBody>
      </p:sp>
      <p:sp>
        <p:nvSpPr>
          <p:cNvPr id="55" name="Text 41"/>
          <p:cNvSpPr/>
          <p:nvPr/>
        </p:nvSpPr>
        <p:spPr>
          <a:xfrm>
            <a:off x="5660603" y="5868739"/>
            <a:ext cx="1278731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Asks for OTP or password</a:t>
            </a:r>
            <a:endParaRPr lang="en-US" sz="450" dirty="0"/>
          </a:p>
        </p:txBody>
      </p:sp>
      <p:sp>
        <p:nvSpPr>
          <p:cNvPr id="56" name="Text 42"/>
          <p:cNvSpPr/>
          <p:nvPr/>
        </p:nvSpPr>
        <p:spPr>
          <a:xfrm>
            <a:off x="4714503" y="5990853"/>
            <a:ext cx="1278731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Correct grammar</a:t>
            </a:r>
            <a:endParaRPr lang="en-US" sz="450" dirty="0"/>
          </a:p>
        </p:txBody>
      </p:sp>
      <p:sp>
        <p:nvSpPr>
          <p:cNvPr id="57" name="Text 43"/>
          <p:cNvSpPr/>
          <p:nvPr/>
        </p:nvSpPr>
        <p:spPr>
          <a:xfrm>
            <a:off x="5660603" y="5990853"/>
            <a:ext cx="1278731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Spelling and grammar errors</a:t>
            </a:r>
            <a:endParaRPr lang="en-US" sz="450" dirty="0"/>
          </a:p>
        </p:txBody>
      </p:sp>
      <p:sp>
        <p:nvSpPr>
          <p:cNvPr id="58" name="Text 44"/>
          <p:cNvSpPr/>
          <p:nvPr/>
        </p:nvSpPr>
        <p:spPr>
          <a:xfrm>
            <a:off x="2601962" y="6168926"/>
            <a:ext cx="1756767" cy="14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Recognizing Fake Websites</a:t>
            </a:r>
            <a:endParaRPr lang="en-US" sz="900" dirty="0"/>
          </a:p>
        </p:txBody>
      </p:sp>
      <p:sp>
        <p:nvSpPr>
          <p:cNvPr id="59" name="Shape 45"/>
          <p:cNvSpPr/>
          <p:nvPr/>
        </p:nvSpPr>
        <p:spPr>
          <a:xfrm>
            <a:off x="2601962" y="6363667"/>
            <a:ext cx="1293391" cy="471041"/>
          </a:xfrm>
          <a:prstGeom prst="roundRect">
            <a:avLst>
              <a:gd name="adj" fmla="val 9706"/>
            </a:avLst>
          </a:prstGeom>
          <a:solidFill>
            <a:srgbClr val="1F1F1F"/>
          </a:solidFill>
          <a:ln w="9525">
            <a:solidFill>
              <a:srgbClr val="575757"/>
            </a:solidFill>
            <a:prstDash val="solid"/>
          </a:ln>
        </p:spPr>
      </p:sp>
      <p:sp>
        <p:nvSpPr>
          <p:cNvPr id="60" name="Shape 46"/>
          <p:cNvSpPr/>
          <p:nvPr/>
        </p:nvSpPr>
        <p:spPr>
          <a:xfrm>
            <a:off x="2592437" y="6363667"/>
            <a:ext cx="38100" cy="471041"/>
          </a:xfrm>
          <a:prstGeom prst="roundRect">
            <a:avLst>
              <a:gd name="adj" fmla="val 23605"/>
            </a:avLst>
          </a:prstGeom>
          <a:solidFill>
            <a:srgbClr val="FA95AE"/>
          </a:solidFill>
          <a:ln/>
        </p:spPr>
      </p:sp>
      <p:sp>
        <p:nvSpPr>
          <p:cNvPr id="61" name="Text 47"/>
          <p:cNvSpPr/>
          <p:nvPr/>
        </p:nvSpPr>
        <p:spPr>
          <a:xfrm>
            <a:off x="2699965" y="6433096"/>
            <a:ext cx="749424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Check HTTPS</a:t>
            </a:r>
            <a:endParaRPr lang="en-US" sz="550" dirty="0"/>
          </a:p>
        </p:txBody>
      </p:sp>
      <p:sp>
        <p:nvSpPr>
          <p:cNvPr id="62" name="Text 48"/>
          <p:cNvSpPr/>
          <p:nvPr/>
        </p:nvSpPr>
        <p:spPr>
          <a:xfrm>
            <a:off x="2699965" y="6549405"/>
            <a:ext cx="1125959" cy="21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Legitimate sites use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https://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with a padlock icon. Missing HTTPS is a major red flag.</a:t>
            </a:r>
            <a:endParaRPr lang="en-US" sz="450" dirty="0"/>
          </a:p>
        </p:txBody>
      </p:sp>
      <p:sp>
        <p:nvSpPr>
          <p:cNvPr id="63" name="Shape 49"/>
          <p:cNvSpPr/>
          <p:nvPr/>
        </p:nvSpPr>
        <p:spPr>
          <a:xfrm>
            <a:off x="3925267" y="6363667"/>
            <a:ext cx="1293391" cy="471041"/>
          </a:xfrm>
          <a:prstGeom prst="roundRect">
            <a:avLst>
              <a:gd name="adj" fmla="val 9706"/>
            </a:avLst>
          </a:prstGeom>
          <a:solidFill>
            <a:srgbClr val="1F1F1F"/>
          </a:solidFill>
          <a:ln w="9525">
            <a:solidFill>
              <a:srgbClr val="575757"/>
            </a:solidFill>
            <a:prstDash val="solid"/>
          </a:ln>
        </p:spPr>
      </p:sp>
      <p:sp>
        <p:nvSpPr>
          <p:cNvPr id="64" name="Shape 50"/>
          <p:cNvSpPr/>
          <p:nvPr/>
        </p:nvSpPr>
        <p:spPr>
          <a:xfrm>
            <a:off x="3915742" y="6363667"/>
            <a:ext cx="38100" cy="471041"/>
          </a:xfrm>
          <a:prstGeom prst="roundRect">
            <a:avLst>
              <a:gd name="adj" fmla="val 23605"/>
            </a:avLst>
          </a:prstGeom>
          <a:solidFill>
            <a:srgbClr val="FA95AE"/>
          </a:solidFill>
          <a:ln/>
        </p:spPr>
      </p:sp>
      <p:sp>
        <p:nvSpPr>
          <p:cNvPr id="65" name="Text 51"/>
          <p:cNvSpPr/>
          <p:nvPr/>
        </p:nvSpPr>
        <p:spPr>
          <a:xfrm>
            <a:off x="4023271" y="6433096"/>
            <a:ext cx="749424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Inspect the URL</a:t>
            </a:r>
            <a:endParaRPr lang="en-US" sz="550" dirty="0"/>
          </a:p>
        </p:txBody>
      </p:sp>
      <p:sp>
        <p:nvSpPr>
          <p:cNvPr id="66" name="Text 52"/>
          <p:cNvSpPr/>
          <p:nvPr/>
        </p:nvSpPr>
        <p:spPr>
          <a:xfrm>
            <a:off x="4023271" y="6549405"/>
            <a:ext cx="1125959" cy="21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Watch for typosquatting: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paypa1.com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vs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paypal.com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Attackers swap letters for numbers.</a:t>
            </a:r>
            <a:endParaRPr lang="en-US" sz="450" dirty="0"/>
          </a:p>
        </p:txBody>
      </p:sp>
      <p:sp>
        <p:nvSpPr>
          <p:cNvPr id="67" name="Shape 53"/>
          <p:cNvSpPr/>
          <p:nvPr/>
        </p:nvSpPr>
        <p:spPr>
          <a:xfrm>
            <a:off x="5248573" y="6363667"/>
            <a:ext cx="1293465" cy="471041"/>
          </a:xfrm>
          <a:prstGeom prst="roundRect">
            <a:avLst>
              <a:gd name="adj" fmla="val 9706"/>
            </a:avLst>
          </a:prstGeom>
          <a:solidFill>
            <a:srgbClr val="1F1F1F"/>
          </a:solidFill>
          <a:ln w="9525">
            <a:solidFill>
              <a:srgbClr val="575757"/>
            </a:solidFill>
            <a:prstDash val="solid"/>
          </a:ln>
        </p:spPr>
      </p:sp>
      <p:sp>
        <p:nvSpPr>
          <p:cNvPr id="68" name="Shape 54"/>
          <p:cNvSpPr/>
          <p:nvPr/>
        </p:nvSpPr>
        <p:spPr>
          <a:xfrm>
            <a:off x="5239048" y="6363667"/>
            <a:ext cx="38100" cy="471041"/>
          </a:xfrm>
          <a:prstGeom prst="roundRect">
            <a:avLst>
              <a:gd name="adj" fmla="val 23605"/>
            </a:avLst>
          </a:prstGeom>
          <a:solidFill>
            <a:srgbClr val="FA95AE"/>
          </a:solidFill>
          <a:ln/>
        </p:spPr>
      </p:sp>
      <p:sp>
        <p:nvSpPr>
          <p:cNvPr id="69" name="Text 55"/>
          <p:cNvSpPr/>
          <p:nvPr/>
        </p:nvSpPr>
        <p:spPr>
          <a:xfrm>
            <a:off x="5346576" y="6433096"/>
            <a:ext cx="760809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🎨</a:t>
            </a:r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Poor Design &amp; Popups</a:t>
            </a:r>
            <a:endParaRPr lang="en-US" sz="550" dirty="0"/>
          </a:p>
        </p:txBody>
      </p:sp>
      <p:sp>
        <p:nvSpPr>
          <p:cNvPr id="70" name="Text 56"/>
          <p:cNvSpPr/>
          <p:nvPr/>
        </p:nvSpPr>
        <p:spPr>
          <a:xfrm>
            <a:off x="5346576" y="6549405"/>
            <a:ext cx="1126034" cy="21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Fake sites often have broken images, inconsistent fonts, and suspicious popups requesting credentials.</a:t>
            </a:r>
            <a:endParaRPr lang="en-US" sz="450" dirty="0"/>
          </a:p>
        </p:txBody>
      </p:sp>
      <p:sp>
        <p:nvSpPr>
          <p:cNvPr id="71" name="Text 57"/>
          <p:cNvSpPr/>
          <p:nvPr/>
        </p:nvSpPr>
        <p:spPr>
          <a:xfrm>
            <a:off x="2601962" y="6879654"/>
            <a:ext cx="1713161" cy="14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Social Engineering Tactics</a:t>
            </a:r>
            <a:endParaRPr lang="en-US" sz="900" dirty="0"/>
          </a:p>
        </p:txBody>
      </p:sp>
      <p:sp>
        <p:nvSpPr>
          <p:cNvPr id="72" name="Text 58"/>
          <p:cNvSpPr/>
          <p:nvPr/>
        </p:nvSpPr>
        <p:spPr>
          <a:xfrm>
            <a:off x="2601962" y="7074396"/>
            <a:ext cx="4397276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Attackers exploit human psychology to manipulate victims into revealing sensitive information:</a:t>
            </a:r>
            <a:endParaRPr lang="en-US" sz="450" dirty="0"/>
          </a:p>
        </p:txBody>
      </p:sp>
      <p:sp>
        <p:nvSpPr>
          <p:cNvPr id="73" name="Shape 59"/>
          <p:cNvSpPr/>
          <p:nvPr/>
        </p:nvSpPr>
        <p:spPr>
          <a:xfrm>
            <a:off x="2601962" y="7180064"/>
            <a:ext cx="1293391" cy="585043"/>
          </a:xfrm>
          <a:prstGeom prst="roundRect">
            <a:avLst>
              <a:gd name="adj" fmla="val 1537"/>
            </a:avLst>
          </a:prstGeom>
          <a:solidFill>
            <a:srgbClr val="3E3E3E"/>
          </a:solidFill>
          <a:ln/>
        </p:spPr>
      </p:sp>
      <p:sp>
        <p:nvSpPr>
          <p:cNvPr id="74" name="Shape 60"/>
          <p:cNvSpPr/>
          <p:nvPr/>
        </p:nvSpPr>
        <p:spPr>
          <a:xfrm>
            <a:off x="2661865" y="7239967"/>
            <a:ext cx="179859" cy="179859"/>
          </a:xfrm>
          <a:prstGeom prst="roundRect">
            <a:avLst>
              <a:gd name="adj" fmla="val 31771713"/>
            </a:avLst>
          </a:prstGeom>
          <a:solidFill>
            <a:srgbClr val="FA95AE"/>
          </a:solidFill>
          <a:ln/>
        </p:spPr>
      </p:sp>
      <p:pic>
        <p:nvPicPr>
          <p:cNvPr id="75" name="Image 12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711351" y="7289453"/>
            <a:ext cx="80888" cy="80888"/>
          </a:xfrm>
          <a:prstGeom prst="rect">
            <a:avLst/>
          </a:prstGeom>
        </p:spPr>
      </p:pic>
      <p:sp>
        <p:nvSpPr>
          <p:cNvPr id="76" name="Text 61"/>
          <p:cNvSpPr/>
          <p:nvPr/>
        </p:nvSpPr>
        <p:spPr>
          <a:xfrm>
            <a:off x="2661865" y="7449741"/>
            <a:ext cx="749424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Urgency</a:t>
            </a:r>
            <a:endParaRPr lang="en-US" sz="550" dirty="0"/>
          </a:p>
        </p:txBody>
      </p:sp>
      <p:sp>
        <p:nvSpPr>
          <p:cNvPr id="77" name="Text 62"/>
          <p:cNvSpPr/>
          <p:nvPr/>
        </p:nvSpPr>
        <p:spPr>
          <a:xfrm>
            <a:off x="2661865" y="7561287"/>
            <a:ext cx="1173584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"Act now or your account will be suspended!"</a:t>
            </a:r>
            <a:endParaRPr lang="en-US" sz="450" dirty="0"/>
          </a:p>
        </p:txBody>
      </p:sp>
      <p:sp>
        <p:nvSpPr>
          <p:cNvPr id="78" name="Shape 63"/>
          <p:cNvSpPr/>
          <p:nvPr/>
        </p:nvSpPr>
        <p:spPr>
          <a:xfrm>
            <a:off x="3925267" y="7180064"/>
            <a:ext cx="1293391" cy="585043"/>
          </a:xfrm>
          <a:prstGeom prst="roundRect">
            <a:avLst>
              <a:gd name="adj" fmla="val 1537"/>
            </a:avLst>
          </a:prstGeom>
          <a:solidFill>
            <a:srgbClr val="3E3E3E"/>
          </a:solidFill>
          <a:ln/>
        </p:spPr>
      </p:sp>
      <p:sp>
        <p:nvSpPr>
          <p:cNvPr id="79" name="Shape 64"/>
          <p:cNvSpPr/>
          <p:nvPr/>
        </p:nvSpPr>
        <p:spPr>
          <a:xfrm>
            <a:off x="3985171" y="7239967"/>
            <a:ext cx="179859" cy="179859"/>
          </a:xfrm>
          <a:prstGeom prst="roundRect">
            <a:avLst>
              <a:gd name="adj" fmla="val 31771713"/>
            </a:avLst>
          </a:prstGeom>
          <a:solidFill>
            <a:srgbClr val="FA95AE"/>
          </a:solidFill>
          <a:ln/>
        </p:spPr>
      </p:sp>
      <p:pic>
        <p:nvPicPr>
          <p:cNvPr id="80" name="Image 13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034656" y="7289453"/>
            <a:ext cx="80888" cy="80888"/>
          </a:xfrm>
          <a:prstGeom prst="rect">
            <a:avLst/>
          </a:prstGeom>
        </p:spPr>
      </p:pic>
      <p:sp>
        <p:nvSpPr>
          <p:cNvPr id="81" name="Text 65"/>
          <p:cNvSpPr/>
          <p:nvPr/>
        </p:nvSpPr>
        <p:spPr>
          <a:xfrm>
            <a:off x="3985171" y="7449741"/>
            <a:ext cx="749424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Fear</a:t>
            </a:r>
            <a:endParaRPr lang="en-US" sz="550" dirty="0"/>
          </a:p>
        </p:txBody>
      </p:sp>
      <p:sp>
        <p:nvSpPr>
          <p:cNvPr id="82" name="Text 66"/>
          <p:cNvSpPr/>
          <p:nvPr/>
        </p:nvSpPr>
        <p:spPr>
          <a:xfrm>
            <a:off x="3985171" y="7561287"/>
            <a:ext cx="1173584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Threats of account closure or financial loss</a:t>
            </a:r>
            <a:endParaRPr lang="en-US" sz="450" dirty="0"/>
          </a:p>
        </p:txBody>
      </p:sp>
      <p:sp>
        <p:nvSpPr>
          <p:cNvPr id="83" name="Shape 67"/>
          <p:cNvSpPr/>
          <p:nvPr/>
        </p:nvSpPr>
        <p:spPr>
          <a:xfrm>
            <a:off x="5248573" y="7180064"/>
            <a:ext cx="1293465" cy="585043"/>
          </a:xfrm>
          <a:prstGeom prst="roundRect">
            <a:avLst>
              <a:gd name="adj" fmla="val 1537"/>
            </a:avLst>
          </a:prstGeom>
          <a:solidFill>
            <a:srgbClr val="3E3E3E"/>
          </a:solidFill>
          <a:ln/>
        </p:spPr>
      </p:sp>
      <p:sp>
        <p:nvSpPr>
          <p:cNvPr id="84" name="Shape 68"/>
          <p:cNvSpPr/>
          <p:nvPr/>
        </p:nvSpPr>
        <p:spPr>
          <a:xfrm>
            <a:off x="5308476" y="7239967"/>
            <a:ext cx="179859" cy="179859"/>
          </a:xfrm>
          <a:prstGeom prst="roundRect">
            <a:avLst>
              <a:gd name="adj" fmla="val 31771713"/>
            </a:avLst>
          </a:prstGeom>
          <a:solidFill>
            <a:srgbClr val="FA95AE"/>
          </a:solidFill>
          <a:ln/>
        </p:spPr>
      </p:sp>
      <p:pic>
        <p:nvPicPr>
          <p:cNvPr id="85" name="Image 14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357961" y="7289453"/>
            <a:ext cx="80888" cy="80888"/>
          </a:xfrm>
          <a:prstGeom prst="rect">
            <a:avLst/>
          </a:prstGeom>
        </p:spPr>
      </p:pic>
      <p:sp>
        <p:nvSpPr>
          <p:cNvPr id="86" name="Text 69"/>
          <p:cNvSpPr/>
          <p:nvPr/>
        </p:nvSpPr>
        <p:spPr>
          <a:xfrm>
            <a:off x="5308476" y="7449741"/>
            <a:ext cx="749424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Curiosity</a:t>
            </a:r>
            <a:endParaRPr lang="en-US" sz="550" dirty="0"/>
          </a:p>
        </p:txBody>
      </p:sp>
      <p:sp>
        <p:nvSpPr>
          <p:cNvPr id="87" name="Text 70"/>
          <p:cNvSpPr/>
          <p:nvPr/>
        </p:nvSpPr>
        <p:spPr>
          <a:xfrm>
            <a:off x="5308476" y="7561287"/>
            <a:ext cx="1173659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"You've won a prize! Click to claim."</a:t>
            </a:r>
            <a:endParaRPr lang="en-US" sz="450" dirty="0"/>
          </a:p>
        </p:txBody>
      </p:sp>
      <p:sp>
        <p:nvSpPr>
          <p:cNvPr id="88" name="Shape 71"/>
          <p:cNvSpPr/>
          <p:nvPr/>
        </p:nvSpPr>
        <p:spPr>
          <a:xfrm>
            <a:off x="2601962" y="7795022"/>
            <a:ext cx="1955081" cy="513085"/>
          </a:xfrm>
          <a:prstGeom prst="roundRect">
            <a:avLst>
              <a:gd name="adj" fmla="val 1753"/>
            </a:avLst>
          </a:prstGeom>
          <a:solidFill>
            <a:srgbClr val="3E3E3E"/>
          </a:solidFill>
          <a:ln/>
        </p:spPr>
      </p:sp>
      <p:sp>
        <p:nvSpPr>
          <p:cNvPr id="89" name="Shape 72"/>
          <p:cNvSpPr/>
          <p:nvPr/>
        </p:nvSpPr>
        <p:spPr>
          <a:xfrm>
            <a:off x="2661865" y="7854925"/>
            <a:ext cx="179859" cy="179859"/>
          </a:xfrm>
          <a:prstGeom prst="roundRect">
            <a:avLst>
              <a:gd name="adj" fmla="val 31771713"/>
            </a:avLst>
          </a:prstGeom>
          <a:solidFill>
            <a:srgbClr val="FA95AE"/>
          </a:solidFill>
          <a:ln/>
        </p:spPr>
      </p:sp>
      <p:pic>
        <p:nvPicPr>
          <p:cNvPr id="90" name="Image 15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711351" y="7904411"/>
            <a:ext cx="80888" cy="80888"/>
          </a:xfrm>
          <a:prstGeom prst="rect">
            <a:avLst/>
          </a:prstGeom>
        </p:spPr>
      </p:pic>
      <p:sp>
        <p:nvSpPr>
          <p:cNvPr id="91" name="Text 73"/>
          <p:cNvSpPr/>
          <p:nvPr/>
        </p:nvSpPr>
        <p:spPr>
          <a:xfrm>
            <a:off x="2661865" y="8064698"/>
            <a:ext cx="749424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Authority</a:t>
            </a:r>
            <a:endParaRPr lang="en-US" sz="550" dirty="0"/>
          </a:p>
        </p:txBody>
      </p:sp>
      <p:sp>
        <p:nvSpPr>
          <p:cNvPr id="92" name="Text 74"/>
          <p:cNvSpPr/>
          <p:nvPr/>
        </p:nvSpPr>
        <p:spPr>
          <a:xfrm>
            <a:off x="2661865" y="8176245"/>
            <a:ext cx="1835274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Impersonating banks, government, or IT support</a:t>
            </a:r>
            <a:endParaRPr lang="en-US" sz="450" dirty="0"/>
          </a:p>
        </p:txBody>
      </p:sp>
      <p:sp>
        <p:nvSpPr>
          <p:cNvPr id="93" name="Shape 75"/>
          <p:cNvSpPr/>
          <p:nvPr/>
        </p:nvSpPr>
        <p:spPr>
          <a:xfrm>
            <a:off x="4586957" y="7795022"/>
            <a:ext cx="1955081" cy="513085"/>
          </a:xfrm>
          <a:prstGeom prst="roundRect">
            <a:avLst>
              <a:gd name="adj" fmla="val 1753"/>
            </a:avLst>
          </a:prstGeom>
          <a:solidFill>
            <a:srgbClr val="3E3E3E"/>
          </a:solidFill>
          <a:ln/>
        </p:spPr>
      </p:sp>
      <p:sp>
        <p:nvSpPr>
          <p:cNvPr id="94" name="Shape 76"/>
          <p:cNvSpPr/>
          <p:nvPr/>
        </p:nvSpPr>
        <p:spPr>
          <a:xfrm>
            <a:off x="4646861" y="7854925"/>
            <a:ext cx="179859" cy="179859"/>
          </a:xfrm>
          <a:prstGeom prst="roundRect">
            <a:avLst>
              <a:gd name="adj" fmla="val 31771713"/>
            </a:avLst>
          </a:prstGeom>
          <a:solidFill>
            <a:srgbClr val="FA95AE"/>
          </a:solidFill>
          <a:ln/>
        </p:spPr>
      </p:sp>
      <p:pic>
        <p:nvPicPr>
          <p:cNvPr id="95" name="Image 16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696346" y="7904411"/>
            <a:ext cx="80888" cy="80888"/>
          </a:xfrm>
          <a:prstGeom prst="rect">
            <a:avLst/>
          </a:prstGeom>
        </p:spPr>
      </p:pic>
      <p:sp>
        <p:nvSpPr>
          <p:cNvPr id="96" name="Text 77"/>
          <p:cNvSpPr/>
          <p:nvPr/>
        </p:nvSpPr>
        <p:spPr>
          <a:xfrm>
            <a:off x="4646861" y="8064698"/>
            <a:ext cx="749424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Trust Exploitation</a:t>
            </a:r>
            <a:endParaRPr lang="en-US" sz="550" dirty="0"/>
          </a:p>
        </p:txBody>
      </p:sp>
      <p:sp>
        <p:nvSpPr>
          <p:cNvPr id="97" name="Text 78"/>
          <p:cNvSpPr/>
          <p:nvPr/>
        </p:nvSpPr>
        <p:spPr>
          <a:xfrm>
            <a:off x="4646861" y="8176245"/>
            <a:ext cx="1835274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Mimicking colleagues or known brands</a:t>
            </a:r>
            <a:endParaRPr lang="en-US" sz="450" dirty="0"/>
          </a:p>
        </p:txBody>
      </p:sp>
      <p:sp>
        <p:nvSpPr>
          <p:cNvPr id="98" name="Text 79"/>
          <p:cNvSpPr/>
          <p:nvPr/>
        </p:nvSpPr>
        <p:spPr>
          <a:xfrm>
            <a:off x="2601962" y="8353053"/>
            <a:ext cx="1919808" cy="14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Real-World Phishing Scenarios</a:t>
            </a:r>
            <a:endParaRPr lang="en-US" sz="900" dirty="0"/>
          </a:p>
        </p:txBody>
      </p:sp>
      <p:sp>
        <p:nvSpPr>
          <p:cNvPr id="99" name="Text 80"/>
          <p:cNvSpPr/>
          <p:nvPr/>
        </p:nvSpPr>
        <p:spPr>
          <a:xfrm>
            <a:off x="2601962" y="8577709"/>
            <a:ext cx="1317427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🏦</a:t>
            </a:r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Fake Bank Email Example</a:t>
            </a:r>
            <a:endParaRPr lang="en-US" sz="550" dirty="0"/>
          </a:p>
        </p:txBody>
      </p:sp>
      <p:sp>
        <p:nvSpPr>
          <p:cNvPr id="100" name="Shape 81"/>
          <p:cNvSpPr/>
          <p:nvPr/>
        </p:nvSpPr>
        <p:spPr>
          <a:xfrm>
            <a:off x="2601962" y="8709794"/>
            <a:ext cx="1896963" cy="389558"/>
          </a:xfrm>
          <a:prstGeom prst="roundRect">
            <a:avLst>
              <a:gd name="adj" fmla="val 2309"/>
            </a:avLst>
          </a:prstGeom>
          <a:solidFill>
            <a:srgbClr val="4B3F02"/>
          </a:solidFill>
          <a:ln/>
        </p:spPr>
      </p:sp>
      <p:pic>
        <p:nvPicPr>
          <p:cNvPr id="101" name="Image 17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661865" y="8789343"/>
            <a:ext cx="74935" cy="59903"/>
          </a:xfrm>
          <a:prstGeom prst="rect">
            <a:avLst/>
          </a:prstGeom>
        </p:spPr>
      </p:pic>
      <p:sp>
        <p:nvSpPr>
          <p:cNvPr id="102" name="Text 82"/>
          <p:cNvSpPr/>
          <p:nvPr/>
        </p:nvSpPr>
        <p:spPr>
          <a:xfrm>
            <a:off x="2796704" y="8754666"/>
            <a:ext cx="1642318" cy="287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From: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support@secure-bank-login.xyz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Subject: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URGENT: Your account will be suspended!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Body: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"Click here to verify your identity within 24 hours or your account will be permanently locked."</a:t>
            </a:r>
            <a:endParaRPr lang="en-US" sz="450" dirty="0"/>
          </a:p>
        </p:txBody>
      </p:sp>
      <p:sp>
        <p:nvSpPr>
          <p:cNvPr id="103" name="Text 83"/>
          <p:cNvSpPr/>
          <p:nvPr/>
        </p:nvSpPr>
        <p:spPr>
          <a:xfrm>
            <a:off x="2601962" y="9133061"/>
            <a:ext cx="1896963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This email uses a fake domain, urgent language, and a malicious link to steal banking credentials.</a:t>
            </a:r>
            <a:endParaRPr lang="en-US" sz="450" dirty="0"/>
          </a:p>
        </p:txBody>
      </p:sp>
      <p:sp>
        <p:nvSpPr>
          <p:cNvPr id="104" name="Text 84"/>
          <p:cNvSpPr/>
          <p:nvPr/>
        </p:nvSpPr>
        <p:spPr>
          <a:xfrm>
            <a:off x="4649837" y="8577709"/>
            <a:ext cx="1249189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Correct User Response</a:t>
            </a:r>
            <a:endParaRPr lang="en-US" sz="550" dirty="0"/>
          </a:p>
        </p:txBody>
      </p:sp>
      <p:sp>
        <p:nvSpPr>
          <p:cNvPr id="105" name="Text 85"/>
          <p:cNvSpPr/>
          <p:nvPr/>
        </p:nvSpPr>
        <p:spPr>
          <a:xfrm>
            <a:off x="4649837" y="8705999"/>
            <a:ext cx="1896963" cy="401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0000"/>
              </a:lnSpc>
              <a:buSzPct val="100000"/>
              <a:buFont typeface="+mj-lt"/>
              <a:buAutoNum type="arabicPeriod" startAt="1"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Do NOT click the link</a:t>
            </a:r>
            <a:endParaRPr lang="en-US" sz="450" dirty="0"/>
          </a:p>
          <a:p>
            <a:pPr algn="l" marL="342900" indent="-342900">
              <a:lnSpc>
                <a:spcPct val="100000"/>
              </a:lnSpc>
              <a:buSzPct val="100000"/>
              <a:buFont typeface="+mj-lt"/>
              <a:buAutoNum type="arabicPeriod" startAt="2"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Verify sender's email address</a:t>
            </a:r>
            <a:endParaRPr lang="en-US" sz="450" dirty="0"/>
          </a:p>
          <a:p>
            <a:pPr algn="l" marL="342900" indent="-342900">
              <a:lnSpc>
                <a:spcPct val="100000"/>
              </a:lnSpc>
              <a:buSzPct val="100000"/>
              <a:buFont typeface="+mj-lt"/>
              <a:buAutoNum type="arabicPeriod" startAt="3"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Visit the bank's official website directly</a:t>
            </a:r>
            <a:endParaRPr lang="en-US" sz="450" dirty="0"/>
          </a:p>
          <a:p>
            <a:pPr algn="l" marL="342900" indent="-342900">
              <a:lnSpc>
                <a:spcPct val="100000"/>
              </a:lnSpc>
              <a:buSzPct val="100000"/>
              <a:buFont typeface="+mj-lt"/>
              <a:buAutoNum type="arabicPeriod" startAt="4"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Contact the bank through official channels</a:t>
            </a:r>
            <a:endParaRPr lang="en-US" sz="450" dirty="0"/>
          </a:p>
          <a:p>
            <a:pPr algn="l" marL="342900" indent="-342900">
              <a:lnSpc>
                <a:spcPct val="100000"/>
              </a:lnSpc>
              <a:buSzPct val="100000"/>
              <a:buFont typeface="+mj-lt"/>
              <a:buAutoNum type="arabicPeriod" startAt="5"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Report the phishing email</a:t>
            </a:r>
            <a:endParaRPr lang="en-US" sz="450" dirty="0"/>
          </a:p>
        </p:txBody>
      </p:sp>
      <p:sp>
        <p:nvSpPr>
          <p:cNvPr id="106" name="Text 86"/>
          <p:cNvSpPr/>
          <p:nvPr/>
        </p:nvSpPr>
        <p:spPr>
          <a:xfrm>
            <a:off x="2601962" y="9348862"/>
            <a:ext cx="2206972" cy="14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Famous Real-World Phishing Attacks</a:t>
            </a:r>
            <a:endParaRPr lang="en-US" sz="900" dirty="0"/>
          </a:p>
        </p:txBody>
      </p:sp>
      <p:sp>
        <p:nvSpPr>
          <p:cNvPr id="107" name="Shape 87"/>
          <p:cNvSpPr/>
          <p:nvPr/>
        </p:nvSpPr>
        <p:spPr>
          <a:xfrm>
            <a:off x="2601962" y="10038829"/>
            <a:ext cx="3940076" cy="9525"/>
          </a:xfrm>
          <a:prstGeom prst="roundRect">
            <a:avLst>
              <a:gd name="adj" fmla="val 94418"/>
            </a:avLst>
          </a:prstGeom>
          <a:solidFill>
            <a:srgbClr val="575757"/>
          </a:solidFill>
          <a:ln/>
        </p:spPr>
      </p:sp>
      <p:sp>
        <p:nvSpPr>
          <p:cNvPr id="108" name="Shape 88"/>
          <p:cNvSpPr/>
          <p:nvPr/>
        </p:nvSpPr>
        <p:spPr>
          <a:xfrm>
            <a:off x="3572842" y="9858970"/>
            <a:ext cx="9525" cy="179859"/>
          </a:xfrm>
          <a:prstGeom prst="roundRect">
            <a:avLst>
              <a:gd name="adj" fmla="val 94418"/>
            </a:avLst>
          </a:prstGeom>
          <a:solidFill>
            <a:srgbClr val="575757"/>
          </a:solidFill>
          <a:ln/>
        </p:spPr>
      </p:sp>
      <p:sp>
        <p:nvSpPr>
          <p:cNvPr id="109" name="Shape 89"/>
          <p:cNvSpPr/>
          <p:nvPr/>
        </p:nvSpPr>
        <p:spPr>
          <a:xfrm>
            <a:off x="3510186" y="9971410"/>
            <a:ext cx="134838" cy="134838"/>
          </a:xfrm>
          <a:prstGeom prst="roundRect">
            <a:avLst>
              <a:gd name="adj" fmla="val 6670"/>
            </a:avLst>
          </a:prstGeom>
          <a:solidFill>
            <a:srgbClr val="3E3E3E"/>
          </a:solidFill>
          <a:ln/>
        </p:spPr>
      </p:sp>
      <p:sp>
        <p:nvSpPr>
          <p:cNvPr id="110" name="Text 90"/>
          <p:cNvSpPr/>
          <p:nvPr/>
        </p:nvSpPr>
        <p:spPr>
          <a:xfrm>
            <a:off x="3532659" y="9982646"/>
            <a:ext cx="89892" cy="1123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700" dirty="0"/>
          </a:p>
        </p:txBody>
      </p:sp>
      <p:sp>
        <p:nvSpPr>
          <p:cNvPr id="111" name="Text 91"/>
          <p:cNvSpPr/>
          <p:nvPr/>
        </p:nvSpPr>
        <p:spPr>
          <a:xfrm>
            <a:off x="3038698" y="9543604"/>
            <a:ext cx="1077739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2013–2015: Google &amp; Facebook Scam</a:t>
            </a:r>
            <a:endParaRPr lang="en-US" sz="550" dirty="0"/>
          </a:p>
        </p:txBody>
      </p:sp>
      <p:sp>
        <p:nvSpPr>
          <p:cNvPr id="112" name="Text 92"/>
          <p:cNvSpPr/>
          <p:nvPr/>
        </p:nvSpPr>
        <p:spPr>
          <a:xfrm>
            <a:off x="2661865" y="9655150"/>
            <a:ext cx="1831479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Lithuanian fraudster impersonated a vendor, stealing </a:t>
            </a:r>
            <a:pPr algn="ctr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$100M+</a:t>
            </a:r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through fake invoices.</a:t>
            </a:r>
            <a:endParaRPr lang="en-US" sz="450" dirty="0"/>
          </a:p>
        </p:txBody>
      </p:sp>
      <p:sp>
        <p:nvSpPr>
          <p:cNvPr id="113" name="Shape 93"/>
          <p:cNvSpPr/>
          <p:nvPr/>
        </p:nvSpPr>
        <p:spPr>
          <a:xfrm>
            <a:off x="4567163" y="10038829"/>
            <a:ext cx="9525" cy="179859"/>
          </a:xfrm>
          <a:prstGeom prst="roundRect">
            <a:avLst>
              <a:gd name="adj" fmla="val 94418"/>
            </a:avLst>
          </a:prstGeom>
          <a:solidFill>
            <a:srgbClr val="575757"/>
          </a:solidFill>
          <a:ln/>
        </p:spPr>
      </p:sp>
      <p:sp>
        <p:nvSpPr>
          <p:cNvPr id="114" name="Shape 94"/>
          <p:cNvSpPr/>
          <p:nvPr/>
        </p:nvSpPr>
        <p:spPr>
          <a:xfrm>
            <a:off x="4504506" y="9971410"/>
            <a:ext cx="134838" cy="134838"/>
          </a:xfrm>
          <a:prstGeom prst="roundRect">
            <a:avLst>
              <a:gd name="adj" fmla="val 6670"/>
            </a:avLst>
          </a:prstGeom>
          <a:solidFill>
            <a:srgbClr val="3E3E3E"/>
          </a:solidFill>
          <a:ln/>
        </p:spPr>
      </p:sp>
      <p:sp>
        <p:nvSpPr>
          <p:cNvPr id="115" name="Text 95"/>
          <p:cNvSpPr/>
          <p:nvPr/>
        </p:nvSpPr>
        <p:spPr>
          <a:xfrm>
            <a:off x="4526979" y="9982646"/>
            <a:ext cx="89892" cy="1123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700" dirty="0"/>
          </a:p>
        </p:txBody>
      </p:sp>
      <p:sp>
        <p:nvSpPr>
          <p:cNvPr id="116" name="Text 96"/>
          <p:cNvSpPr/>
          <p:nvPr/>
        </p:nvSpPr>
        <p:spPr>
          <a:xfrm>
            <a:off x="4130353" y="10278591"/>
            <a:ext cx="883221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2020: COVID-19 Phishing Wave</a:t>
            </a:r>
            <a:endParaRPr lang="en-US" sz="550" dirty="0"/>
          </a:p>
        </p:txBody>
      </p:sp>
      <p:sp>
        <p:nvSpPr>
          <p:cNvPr id="117" name="Text 97"/>
          <p:cNvSpPr/>
          <p:nvPr/>
        </p:nvSpPr>
        <p:spPr>
          <a:xfrm>
            <a:off x="3656186" y="10390138"/>
            <a:ext cx="1831553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Fake WHO and CDC emails spread malware and stole credentials globally.</a:t>
            </a:r>
            <a:endParaRPr lang="en-US" sz="450" dirty="0"/>
          </a:p>
        </p:txBody>
      </p:sp>
      <p:sp>
        <p:nvSpPr>
          <p:cNvPr id="118" name="Shape 98"/>
          <p:cNvSpPr/>
          <p:nvPr/>
        </p:nvSpPr>
        <p:spPr>
          <a:xfrm>
            <a:off x="5561558" y="9858970"/>
            <a:ext cx="9525" cy="179859"/>
          </a:xfrm>
          <a:prstGeom prst="roundRect">
            <a:avLst>
              <a:gd name="adj" fmla="val 94418"/>
            </a:avLst>
          </a:prstGeom>
          <a:solidFill>
            <a:srgbClr val="575757"/>
          </a:solidFill>
          <a:ln/>
        </p:spPr>
      </p:sp>
      <p:sp>
        <p:nvSpPr>
          <p:cNvPr id="119" name="Shape 99"/>
          <p:cNvSpPr/>
          <p:nvPr/>
        </p:nvSpPr>
        <p:spPr>
          <a:xfrm>
            <a:off x="5498902" y="9971410"/>
            <a:ext cx="134838" cy="134838"/>
          </a:xfrm>
          <a:prstGeom prst="roundRect">
            <a:avLst>
              <a:gd name="adj" fmla="val 6670"/>
            </a:avLst>
          </a:prstGeom>
          <a:solidFill>
            <a:srgbClr val="3E3E3E"/>
          </a:solidFill>
          <a:ln/>
        </p:spPr>
      </p:sp>
      <p:sp>
        <p:nvSpPr>
          <p:cNvPr id="120" name="Text 100"/>
          <p:cNvSpPr/>
          <p:nvPr/>
        </p:nvSpPr>
        <p:spPr>
          <a:xfrm>
            <a:off x="5521375" y="9982646"/>
            <a:ext cx="89892" cy="1123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700" dirty="0"/>
          </a:p>
        </p:txBody>
      </p:sp>
      <p:sp>
        <p:nvSpPr>
          <p:cNvPr id="121" name="Text 101"/>
          <p:cNvSpPr/>
          <p:nvPr/>
        </p:nvSpPr>
        <p:spPr>
          <a:xfrm>
            <a:off x="5060305" y="9543604"/>
            <a:ext cx="1012106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Ongoing: Banking Phishing Frauds</a:t>
            </a:r>
            <a:endParaRPr lang="en-US" sz="550" dirty="0"/>
          </a:p>
        </p:txBody>
      </p:sp>
      <p:sp>
        <p:nvSpPr>
          <p:cNvPr id="122" name="Text 102"/>
          <p:cNvSpPr/>
          <p:nvPr/>
        </p:nvSpPr>
        <p:spPr>
          <a:xfrm>
            <a:off x="4650581" y="9655150"/>
            <a:ext cx="1831553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Fake bank portals continue to steal millions in credentials and financial data.</a:t>
            </a:r>
            <a:endParaRPr lang="en-US" sz="450" dirty="0"/>
          </a:p>
        </p:txBody>
      </p:sp>
      <p:sp>
        <p:nvSpPr>
          <p:cNvPr id="123" name="Shape 103"/>
          <p:cNvSpPr/>
          <p:nvPr/>
        </p:nvSpPr>
        <p:spPr>
          <a:xfrm>
            <a:off x="2601962" y="10567764"/>
            <a:ext cx="3940076" cy="176733"/>
          </a:xfrm>
          <a:prstGeom prst="roundRect">
            <a:avLst>
              <a:gd name="adj" fmla="val 5089"/>
            </a:avLst>
          </a:prstGeom>
          <a:solidFill>
            <a:srgbClr val="022349"/>
          </a:solidFill>
          <a:ln/>
        </p:spPr>
      </p:sp>
      <p:pic>
        <p:nvPicPr>
          <p:cNvPr id="124" name="Image 18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661865" y="10647313"/>
            <a:ext cx="74935" cy="59903"/>
          </a:xfrm>
          <a:prstGeom prst="rect">
            <a:avLst/>
          </a:prstGeom>
        </p:spPr>
      </p:pic>
      <p:sp>
        <p:nvSpPr>
          <p:cNvPr id="125" name="Text 104"/>
          <p:cNvSpPr/>
          <p:nvPr/>
        </p:nvSpPr>
        <p:spPr>
          <a:xfrm>
            <a:off x="2796704" y="10612636"/>
            <a:ext cx="4142631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Key Lesson: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Even large corporations are vulnerable. Always verify requests, even from known contacts.</a:t>
            </a:r>
            <a:endParaRPr lang="en-US" sz="450" dirty="0"/>
          </a:p>
        </p:txBody>
      </p:sp>
      <p:sp>
        <p:nvSpPr>
          <p:cNvPr id="126" name="Text 105"/>
          <p:cNvSpPr/>
          <p:nvPr/>
        </p:nvSpPr>
        <p:spPr>
          <a:xfrm>
            <a:off x="2601962" y="10789444"/>
            <a:ext cx="2066181" cy="14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How to Stay Safe — Best Practices</a:t>
            </a:r>
            <a:endParaRPr lang="en-US" sz="900" dirty="0"/>
          </a:p>
        </p:txBody>
      </p:sp>
      <p:sp>
        <p:nvSpPr>
          <p:cNvPr id="127" name="Text 106"/>
          <p:cNvSpPr/>
          <p:nvPr/>
        </p:nvSpPr>
        <p:spPr>
          <a:xfrm>
            <a:off x="2601962" y="10984185"/>
            <a:ext cx="119881" cy="74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01</a:t>
            </a:r>
            <a:endParaRPr lang="en-US" sz="450" dirty="0"/>
          </a:p>
        </p:txBody>
      </p:sp>
      <p:sp>
        <p:nvSpPr>
          <p:cNvPr id="128" name="Shape 107"/>
          <p:cNvSpPr/>
          <p:nvPr/>
        </p:nvSpPr>
        <p:spPr>
          <a:xfrm>
            <a:off x="2601962" y="11076533"/>
            <a:ext cx="1293391" cy="9525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29" name="Text 108"/>
          <p:cNvSpPr/>
          <p:nvPr/>
        </p:nvSpPr>
        <p:spPr>
          <a:xfrm>
            <a:off x="2601962" y="11125498"/>
            <a:ext cx="749424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Verify Sender Addresses</a:t>
            </a:r>
            <a:endParaRPr lang="en-US" sz="550" dirty="0"/>
          </a:p>
        </p:txBody>
      </p:sp>
      <p:sp>
        <p:nvSpPr>
          <p:cNvPr id="130" name="Text 109"/>
          <p:cNvSpPr/>
          <p:nvPr/>
        </p:nvSpPr>
        <p:spPr>
          <a:xfrm>
            <a:off x="2601962" y="11237044"/>
            <a:ext cx="1293391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Always check the full email address, not just the display name.</a:t>
            </a:r>
            <a:endParaRPr lang="en-US" sz="450" dirty="0"/>
          </a:p>
        </p:txBody>
      </p:sp>
      <p:sp>
        <p:nvSpPr>
          <p:cNvPr id="131" name="Text 110"/>
          <p:cNvSpPr/>
          <p:nvPr/>
        </p:nvSpPr>
        <p:spPr>
          <a:xfrm>
            <a:off x="3925267" y="10984185"/>
            <a:ext cx="119881" cy="74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02</a:t>
            </a:r>
            <a:endParaRPr lang="en-US" sz="450" dirty="0"/>
          </a:p>
        </p:txBody>
      </p:sp>
      <p:sp>
        <p:nvSpPr>
          <p:cNvPr id="132" name="Shape 111"/>
          <p:cNvSpPr/>
          <p:nvPr/>
        </p:nvSpPr>
        <p:spPr>
          <a:xfrm>
            <a:off x="3925267" y="11076533"/>
            <a:ext cx="1293391" cy="9525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33" name="Text 112"/>
          <p:cNvSpPr/>
          <p:nvPr/>
        </p:nvSpPr>
        <p:spPr>
          <a:xfrm>
            <a:off x="3925267" y="11125498"/>
            <a:ext cx="749424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Avoid Unknown Links</a:t>
            </a:r>
            <a:endParaRPr lang="en-US" sz="550" dirty="0"/>
          </a:p>
        </p:txBody>
      </p:sp>
      <p:sp>
        <p:nvSpPr>
          <p:cNvPr id="134" name="Text 113"/>
          <p:cNvSpPr/>
          <p:nvPr/>
        </p:nvSpPr>
        <p:spPr>
          <a:xfrm>
            <a:off x="3925267" y="11237044"/>
            <a:ext cx="1293391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Hover over links to preview URLs before clicking.</a:t>
            </a:r>
            <a:endParaRPr lang="en-US" sz="450" dirty="0"/>
          </a:p>
        </p:txBody>
      </p:sp>
      <p:sp>
        <p:nvSpPr>
          <p:cNvPr id="135" name="Text 114"/>
          <p:cNvSpPr/>
          <p:nvPr/>
        </p:nvSpPr>
        <p:spPr>
          <a:xfrm>
            <a:off x="5248573" y="10984185"/>
            <a:ext cx="119881" cy="74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03</a:t>
            </a:r>
            <a:endParaRPr lang="en-US" sz="450" dirty="0"/>
          </a:p>
        </p:txBody>
      </p:sp>
      <p:sp>
        <p:nvSpPr>
          <p:cNvPr id="136" name="Shape 115"/>
          <p:cNvSpPr/>
          <p:nvPr/>
        </p:nvSpPr>
        <p:spPr>
          <a:xfrm>
            <a:off x="5248573" y="11076533"/>
            <a:ext cx="1293465" cy="9525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37" name="Text 116"/>
          <p:cNvSpPr/>
          <p:nvPr/>
        </p:nvSpPr>
        <p:spPr>
          <a:xfrm>
            <a:off x="5248573" y="11125498"/>
            <a:ext cx="906289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Use Strong, Unique Passwords</a:t>
            </a:r>
            <a:endParaRPr lang="en-US" sz="550" dirty="0"/>
          </a:p>
        </p:txBody>
      </p:sp>
      <p:sp>
        <p:nvSpPr>
          <p:cNvPr id="138" name="Text 117"/>
          <p:cNvSpPr/>
          <p:nvPr/>
        </p:nvSpPr>
        <p:spPr>
          <a:xfrm>
            <a:off x="5248573" y="11237044"/>
            <a:ext cx="1293465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 a password manager for complex, unique passwords.</a:t>
            </a:r>
            <a:endParaRPr lang="en-US" sz="450" dirty="0"/>
          </a:p>
        </p:txBody>
      </p:sp>
      <p:sp>
        <p:nvSpPr>
          <p:cNvPr id="139" name="Text 118"/>
          <p:cNvSpPr/>
          <p:nvPr/>
        </p:nvSpPr>
        <p:spPr>
          <a:xfrm>
            <a:off x="2601962" y="11455822"/>
            <a:ext cx="119881" cy="74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04</a:t>
            </a:r>
            <a:endParaRPr lang="en-US" sz="450" dirty="0"/>
          </a:p>
        </p:txBody>
      </p:sp>
      <p:sp>
        <p:nvSpPr>
          <p:cNvPr id="140" name="Shape 119"/>
          <p:cNvSpPr/>
          <p:nvPr/>
        </p:nvSpPr>
        <p:spPr>
          <a:xfrm>
            <a:off x="2601962" y="11548170"/>
            <a:ext cx="1955081" cy="9525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41" name="Text 120"/>
          <p:cNvSpPr/>
          <p:nvPr/>
        </p:nvSpPr>
        <p:spPr>
          <a:xfrm>
            <a:off x="2601962" y="11597134"/>
            <a:ext cx="1164580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Enable Two-Factor Authentication (2FA)</a:t>
            </a:r>
            <a:endParaRPr lang="en-US" sz="550" dirty="0"/>
          </a:p>
        </p:txBody>
      </p:sp>
      <p:sp>
        <p:nvSpPr>
          <p:cNvPr id="142" name="Text 121"/>
          <p:cNvSpPr/>
          <p:nvPr/>
        </p:nvSpPr>
        <p:spPr>
          <a:xfrm>
            <a:off x="2601962" y="11708681"/>
            <a:ext cx="1955081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 an extra layer of security beyond just a password.</a:t>
            </a:r>
            <a:endParaRPr lang="en-US" sz="450" dirty="0"/>
          </a:p>
        </p:txBody>
      </p:sp>
      <p:sp>
        <p:nvSpPr>
          <p:cNvPr id="143" name="Text 122"/>
          <p:cNvSpPr/>
          <p:nvPr/>
        </p:nvSpPr>
        <p:spPr>
          <a:xfrm>
            <a:off x="4586957" y="11455822"/>
            <a:ext cx="119881" cy="74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05</a:t>
            </a:r>
            <a:endParaRPr lang="en-US" sz="450" dirty="0"/>
          </a:p>
        </p:txBody>
      </p:sp>
      <p:sp>
        <p:nvSpPr>
          <p:cNvPr id="144" name="Shape 123"/>
          <p:cNvSpPr/>
          <p:nvPr/>
        </p:nvSpPr>
        <p:spPr>
          <a:xfrm>
            <a:off x="4586957" y="11548170"/>
            <a:ext cx="1955081" cy="9525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45" name="Text 124"/>
          <p:cNvSpPr/>
          <p:nvPr/>
        </p:nvSpPr>
        <p:spPr>
          <a:xfrm>
            <a:off x="4586957" y="11597134"/>
            <a:ext cx="923851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Use Antivirus &amp; Update Devices</a:t>
            </a:r>
            <a:endParaRPr lang="en-US" sz="550" dirty="0"/>
          </a:p>
        </p:txBody>
      </p:sp>
      <p:sp>
        <p:nvSpPr>
          <p:cNvPr id="146" name="Text 125"/>
          <p:cNvSpPr/>
          <p:nvPr/>
        </p:nvSpPr>
        <p:spPr>
          <a:xfrm>
            <a:off x="4586957" y="11708681"/>
            <a:ext cx="1955081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Keep security software and operating systems up to date.</a:t>
            </a:r>
            <a:endParaRPr lang="en-US" sz="450" dirty="0"/>
          </a:p>
        </p:txBody>
      </p:sp>
      <p:sp>
        <p:nvSpPr>
          <p:cNvPr id="147" name="Text 126"/>
          <p:cNvSpPr/>
          <p:nvPr/>
        </p:nvSpPr>
        <p:spPr>
          <a:xfrm>
            <a:off x="2601962" y="11870531"/>
            <a:ext cx="2112913" cy="14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 to Do If You Suspect Phishing</a:t>
            </a:r>
            <a:endParaRPr lang="en-US" sz="900" dirty="0"/>
          </a:p>
        </p:txBody>
      </p:sp>
      <p:pic>
        <p:nvPicPr>
          <p:cNvPr id="148" name="Image 19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039963" y="12065273"/>
            <a:ext cx="3063999" cy="1402259"/>
          </a:xfrm>
          <a:prstGeom prst="rect">
            <a:avLst/>
          </a:prstGeom>
        </p:spPr>
      </p:pic>
      <p:sp>
        <p:nvSpPr>
          <p:cNvPr id="149" name="Text 127"/>
          <p:cNvSpPr/>
          <p:nvPr/>
        </p:nvSpPr>
        <p:spPr>
          <a:xfrm>
            <a:off x="5157462" y="13134539"/>
            <a:ext cx="803830" cy="110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Report</a:t>
            </a:r>
            <a:endParaRPr lang="en-US" sz="650" dirty="0"/>
          </a:p>
        </p:txBody>
      </p:sp>
      <p:sp>
        <p:nvSpPr>
          <p:cNvPr id="150" name="Text 128"/>
          <p:cNvSpPr/>
          <p:nvPr/>
        </p:nvSpPr>
        <p:spPr>
          <a:xfrm>
            <a:off x="4432515" y="13134539"/>
            <a:ext cx="803829" cy="110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Scan</a:t>
            </a:r>
            <a:endParaRPr lang="en-US" sz="650" dirty="0"/>
          </a:p>
        </p:txBody>
      </p:sp>
      <p:sp>
        <p:nvSpPr>
          <p:cNvPr id="151" name="Text 129"/>
          <p:cNvSpPr/>
          <p:nvPr/>
        </p:nvSpPr>
        <p:spPr>
          <a:xfrm>
            <a:off x="3711509" y="13134539"/>
            <a:ext cx="803829" cy="110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Change</a:t>
            </a:r>
            <a:endParaRPr lang="en-US" sz="650" dirty="0"/>
          </a:p>
        </p:txBody>
      </p:sp>
      <p:sp>
        <p:nvSpPr>
          <p:cNvPr id="152" name="Text 130"/>
          <p:cNvSpPr/>
          <p:nvPr/>
        </p:nvSpPr>
        <p:spPr>
          <a:xfrm>
            <a:off x="2974742" y="13134539"/>
            <a:ext cx="803829" cy="110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Stop</a:t>
            </a:r>
            <a:endParaRPr lang="en-US" sz="650" dirty="0"/>
          </a:p>
        </p:txBody>
      </p:sp>
      <p:sp>
        <p:nvSpPr>
          <p:cNvPr id="153" name="Text 131"/>
          <p:cNvSpPr/>
          <p:nvPr/>
        </p:nvSpPr>
        <p:spPr>
          <a:xfrm>
            <a:off x="2601962" y="13501241"/>
            <a:ext cx="4397276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If you clicked a link or entered credentials, contact your bank immediately and monitor accounts for suspicious activity.</a:t>
            </a:r>
            <a:endParaRPr lang="en-US" sz="450" dirty="0"/>
          </a:p>
        </p:txBody>
      </p:sp>
      <p:sp>
        <p:nvSpPr>
          <p:cNvPr id="154" name="Text 132"/>
          <p:cNvSpPr/>
          <p:nvPr/>
        </p:nvSpPr>
        <p:spPr>
          <a:xfrm>
            <a:off x="2601962" y="13618146"/>
            <a:ext cx="2170733" cy="14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Safe vs. Unsafe — Quick Comparison</a:t>
            </a:r>
            <a:endParaRPr lang="en-US" sz="900" dirty="0"/>
          </a:p>
        </p:txBody>
      </p:sp>
      <p:sp>
        <p:nvSpPr>
          <p:cNvPr id="155" name="Shape 133"/>
          <p:cNvSpPr/>
          <p:nvPr/>
        </p:nvSpPr>
        <p:spPr>
          <a:xfrm>
            <a:off x="2601962" y="13812887"/>
            <a:ext cx="3940076" cy="737443"/>
          </a:xfrm>
          <a:prstGeom prst="roundRect">
            <a:avLst>
              <a:gd name="adj" fmla="val 122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6" name="Text 134"/>
          <p:cNvSpPr/>
          <p:nvPr/>
        </p:nvSpPr>
        <p:spPr>
          <a:xfrm>
            <a:off x="2666777" y="13840346"/>
            <a:ext cx="1671340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Category</a:t>
            </a:r>
            <a:endParaRPr lang="en-US" sz="450" dirty="0"/>
          </a:p>
        </p:txBody>
      </p:sp>
      <p:sp>
        <p:nvSpPr>
          <p:cNvPr id="157" name="Text 135"/>
          <p:cNvSpPr/>
          <p:nvPr/>
        </p:nvSpPr>
        <p:spPr>
          <a:xfrm>
            <a:off x="4005486" y="13840346"/>
            <a:ext cx="1629668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✅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Safe</a:t>
            </a:r>
            <a:endParaRPr lang="en-US" sz="450" dirty="0"/>
          </a:p>
        </p:txBody>
      </p:sp>
      <p:sp>
        <p:nvSpPr>
          <p:cNvPr id="158" name="Text 136"/>
          <p:cNvSpPr/>
          <p:nvPr/>
        </p:nvSpPr>
        <p:spPr>
          <a:xfrm>
            <a:off x="5302523" y="13840346"/>
            <a:ext cx="1632049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🚨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Unsafe</a:t>
            </a:r>
            <a:endParaRPr lang="en-US" sz="450" dirty="0"/>
          </a:p>
        </p:txBody>
      </p:sp>
      <p:sp>
        <p:nvSpPr>
          <p:cNvPr id="159" name="Text 137"/>
          <p:cNvSpPr/>
          <p:nvPr/>
        </p:nvSpPr>
        <p:spPr>
          <a:xfrm>
            <a:off x="2666777" y="13962459"/>
            <a:ext cx="1671340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Website URL</a:t>
            </a:r>
            <a:endParaRPr lang="en-US" sz="450" dirty="0"/>
          </a:p>
        </p:txBody>
      </p:sp>
      <p:sp>
        <p:nvSpPr>
          <p:cNvPr id="160" name="Text 138"/>
          <p:cNvSpPr/>
          <p:nvPr/>
        </p:nvSpPr>
        <p:spPr>
          <a:xfrm>
            <a:off x="4005486" y="13962459"/>
            <a:ext cx="1629668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https:// with padlock</a:t>
            </a:r>
            <a:endParaRPr lang="en-US" sz="450" dirty="0"/>
          </a:p>
        </p:txBody>
      </p:sp>
      <p:sp>
        <p:nvSpPr>
          <p:cNvPr id="161" name="Text 139"/>
          <p:cNvSpPr/>
          <p:nvPr/>
        </p:nvSpPr>
        <p:spPr>
          <a:xfrm>
            <a:off x="5302523" y="13962459"/>
            <a:ext cx="1632049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http:// or misspelled domain</a:t>
            </a:r>
            <a:endParaRPr lang="en-US" sz="450" dirty="0"/>
          </a:p>
        </p:txBody>
      </p:sp>
      <p:sp>
        <p:nvSpPr>
          <p:cNvPr id="162" name="Text 140"/>
          <p:cNvSpPr/>
          <p:nvPr/>
        </p:nvSpPr>
        <p:spPr>
          <a:xfrm>
            <a:off x="2666777" y="14084573"/>
            <a:ext cx="1671340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Email Sender</a:t>
            </a:r>
            <a:endParaRPr lang="en-US" sz="450" dirty="0"/>
          </a:p>
        </p:txBody>
      </p:sp>
      <p:sp>
        <p:nvSpPr>
          <p:cNvPr id="163" name="Text 141"/>
          <p:cNvSpPr/>
          <p:nvPr/>
        </p:nvSpPr>
        <p:spPr>
          <a:xfrm>
            <a:off x="4005486" y="14084573"/>
            <a:ext cx="1629668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Official domain address</a:t>
            </a:r>
            <a:endParaRPr lang="en-US" sz="450" dirty="0"/>
          </a:p>
        </p:txBody>
      </p:sp>
      <p:sp>
        <p:nvSpPr>
          <p:cNvPr id="164" name="Text 142"/>
          <p:cNvSpPr/>
          <p:nvPr/>
        </p:nvSpPr>
        <p:spPr>
          <a:xfrm>
            <a:off x="5302523" y="14084573"/>
            <a:ext cx="1632049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Free email or look-alike domain</a:t>
            </a:r>
            <a:endParaRPr lang="en-US" sz="450" dirty="0"/>
          </a:p>
        </p:txBody>
      </p:sp>
      <p:sp>
        <p:nvSpPr>
          <p:cNvPr id="165" name="Text 143"/>
          <p:cNvSpPr/>
          <p:nvPr/>
        </p:nvSpPr>
        <p:spPr>
          <a:xfrm>
            <a:off x="2666777" y="14206686"/>
            <a:ext cx="1671340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Attachments</a:t>
            </a:r>
            <a:endParaRPr lang="en-US" sz="450" dirty="0"/>
          </a:p>
        </p:txBody>
      </p:sp>
      <p:sp>
        <p:nvSpPr>
          <p:cNvPr id="166" name="Text 144"/>
          <p:cNvSpPr/>
          <p:nvPr/>
        </p:nvSpPr>
        <p:spPr>
          <a:xfrm>
            <a:off x="4005486" y="14206686"/>
            <a:ext cx="1629668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Expected, from known sender</a:t>
            </a:r>
            <a:endParaRPr lang="en-US" sz="450" dirty="0"/>
          </a:p>
        </p:txBody>
      </p:sp>
      <p:sp>
        <p:nvSpPr>
          <p:cNvPr id="167" name="Text 145"/>
          <p:cNvSpPr/>
          <p:nvPr/>
        </p:nvSpPr>
        <p:spPr>
          <a:xfrm>
            <a:off x="5302523" y="14206686"/>
            <a:ext cx="1632049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Unexpected .exe or .zip files</a:t>
            </a:r>
            <a:endParaRPr lang="en-US" sz="450" dirty="0"/>
          </a:p>
        </p:txBody>
      </p:sp>
      <p:sp>
        <p:nvSpPr>
          <p:cNvPr id="168" name="Text 146"/>
          <p:cNvSpPr/>
          <p:nvPr/>
        </p:nvSpPr>
        <p:spPr>
          <a:xfrm>
            <a:off x="2666777" y="14328800"/>
            <a:ext cx="1671340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Password Requests</a:t>
            </a:r>
            <a:endParaRPr lang="en-US" sz="450" dirty="0"/>
          </a:p>
        </p:txBody>
      </p:sp>
      <p:sp>
        <p:nvSpPr>
          <p:cNvPr id="169" name="Text 147"/>
          <p:cNvSpPr/>
          <p:nvPr/>
        </p:nvSpPr>
        <p:spPr>
          <a:xfrm>
            <a:off x="4005486" y="14328800"/>
            <a:ext cx="1629668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Never asked via email</a:t>
            </a:r>
            <a:endParaRPr lang="en-US" sz="450" dirty="0"/>
          </a:p>
        </p:txBody>
      </p:sp>
      <p:sp>
        <p:nvSpPr>
          <p:cNvPr id="170" name="Text 148"/>
          <p:cNvSpPr/>
          <p:nvPr/>
        </p:nvSpPr>
        <p:spPr>
          <a:xfrm>
            <a:off x="5302523" y="14328800"/>
            <a:ext cx="1632049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Email asks for password/OTP</a:t>
            </a:r>
            <a:endParaRPr lang="en-US" sz="450" dirty="0"/>
          </a:p>
        </p:txBody>
      </p:sp>
      <p:sp>
        <p:nvSpPr>
          <p:cNvPr id="171" name="Text 149"/>
          <p:cNvSpPr/>
          <p:nvPr/>
        </p:nvSpPr>
        <p:spPr>
          <a:xfrm>
            <a:off x="2666777" y="14450913"/>
            <a:ext cx="1671340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Language Tone</a:t>
            </a:r>
            <a:endParaRPr lang="en-US" sz="450" dirty="0"/>
          </a:p>
        </p:txBody>
      </p:sp>
      <p:sp>
        <p:nvSpPr>
          <p:cNvPr id="172" name="Text 150"/>
          <p:cNvSpPr/>
          <p:nvPr/>
        </p:nvSpPr>
        <p:spPr>
          <a:xfrm>
            <a:off x="4005486" y="14450913"/>
            <a:ext cx="1629668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Professional, calm</a:t>
            </a:r>
            <a:endParaRPr lang="en-US" sz="450" dirty="0"/>
          </a:p>
        </p:txBody>
      </p:sp>
      <p:sp>
        <p:nvSpPr>
          <p:cNvPr id="173" name="Text 151"/>
          <p:cNvSpPr/>
          <p:nvPr/>
        </p:nvSpPr>
        <p:spPr>
          <a:xfrm>
            <a:off x="5302523" y="14450913"/>
            <a:ext cx="1632049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Urgent, threatening, or overly friendly</a:t>
            </a:r>
            <a:endParaRPr lang="en-US" sz="450" dirty="0"/>
          </a:p>
        </p:txBody>
      </p:sp>
      <p:sp>
        <p:nvSpPr>
          <p:cNvPr id="174" name="Text 152"/>
          <p:cNvSpPr/>
          <p:nvPr/>
        </p:nvSpPr>
        <p:spPr>
          <a:xfrm>
            <a:off x="2601962" y="14595277"/>
            <a:ext cx="2523306" cy="15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🧠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Interactive Quiz — Test Your Knowledge!</a:t>
            </a:r>
            <a:endParaRPr lang="en-US" sz="900" dirty="0"/>
          </a:p>
        </p:txBody>
      </p:sp>
      <p:sp>
        <p:nvSpPr>
          <p:cNvPr id="175" name="Shape 153"/>
          <p:cNvSpPr/>
          <p:nvPr/>
        </p:nvSpPr>
        <p:spPr>
          <a:xfrm>
            <a:off x="2601962" y="14889435"/>
            <a:ext cx="1293391" cy="546720"/>
          </a:xfrm>
          <a:prstGeom prst="roundRect">
            <a:avLst>
              <a:gd name="adj" fmla="val 8363"/>
            </a:avLst>
          </a:prstGeom>
          <a:solidFill>
            <a:srgbClr val="1F1F1F"/>
          </a:solidFill>
          <a:ln w="9525">
            <a:solidFill>
              <a:srgbClr val="575757"/>
            </a:solidFill>
            <a:prstDash val="solid"/>
          </a:ln>
        </p:spPr>
      </p:sp>
      <p:sp>
        <p:nvSpPr>
          <p:cNvPr id="176" name="Shape 154"/>
          <p:cNvSpPr/>
          <p:nvPr/>
        </p:nvSpPr>
        <p:spPr>
          <a:xfrm>
            <a:off x="2601962" y="14879910"/>
            <a:ext cx="1293391" cy="38100"/>
          </a:xfrm>
          <a:prstGeom prst="roundRect">
            <a:avLst>
              <a:gd name="adj" fmla="val 23605"/>
            </a:avLst>
          </a:prstGeom>
          <a:solidFill>
            <a:srgbClr val="FA95AE"/>
          </a:solidFill>
          <a:ln/>
        </p:spPr>
      </p:sp>
      <p:sp>
        <p:nvSpPr>
          <p:cNvPr id="177" name="Shape 155"/>
          <p:cNvSpPr/>
          <p:nvPr/>
        </p:nvSpPr>
        <p:spPr>
          <a:xfrm>
            <a:off x="3158691" y="14799543"/>
            <a:ext cx="179859" cy="179859"/>
          </a:xfrm>
          <a:prstGeom prst="roundRect">
            <a:avLst>
              <a:gd name="adj" fmla="val 317749"/>
            </a:avLst>
          </a:prstGeom>
          <a:solidFill>
            <a:srgbClr val="FA95AE"/>
          </a:solidFill>
          <a:ln/>
        </p:spPr>
      </p:sp>
      <p:sp>
        <p:nvSpPr>
          <p:cNvPr id="178" name="Text 156"/>
          <p:cNvSpPr/>
          <p:nvPr/>
        </p:nvSpPr>
        <p:spPr>
          <a:xfrm>
            <a:off x="3212641" y="14844489"/>
            <a:ext cx="71884" cy="89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550" dirty="0"/>
          </a:p>
        </p:txBody>
      </p:sp>
      <p:sp>
        <p:nvSpPr>
          <p:cNvPr id="179" name="Text 157"/>
          <p:cNvSpPr/>
          <p:nvPr/>
        </p:nvSpPr>
        <p:spPr>
          <a:xfrm>
            <a:off x="2671390" y="15039305"/>
            <a:ext cx="1148358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Should you share OTPs through email?</a:t>
            </a:r>
            <a:endParaRPr lang="en-US" sz="550" dirty="0"/>
          </a:p>
        </p:txBody>
      </p:sp>
      <p:sp>
        <p:nvSpPr>
          <p:cNvPr id="180" name="Text 158"/>
          <p:cNvSpPr/>
          <p:nvPr/>
        </p:nvSpPr>
        <p:spPr>
          <a:xfrm>
            <a:off x="2671390" y="15150852"/>
            <a:ext cx="1154534" cy="21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Yes, if requested by your bank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No, never share OTPs with anyone 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✅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Only via encrypted email</a:t>
            </a:r>
            <a:endParaRPr lang="en-US" sz="450" dirty="0"/>
          </a:p>
        </p:txBody>
      </p:sp>
      <p:sp>
        <p:nvSpPr>
          <p:cNvPr id="181" name="Shape 159"/>
          <p:cNvSpPr/>
          <p:nvPr/>
        </p:nvSpPr>
        <p:spPr>
          <a:xfrm>
            <a:off x="3925267" y="14889435"/>
            <a:ext cx="1293391" cy="546720"/>
          </a:xfrm>
          <a:prstGeom prst="roundRect">
            <a:avLst>
              <a:gd name="adj" fmla="val 8363"/>
            </a:avLst>
          </a:prstGeom>
          <a:solidFill>
            <a:srgbClr val="1F1F1F"/>
          </a:solidFill>
          <a:ln w="9525">
            <a:solidFill>
              <a:srgbClr val="575757"/>
            </a:solidFill>
            <a:prstDash val="solid"/>
          </a:ln>
        </p:spPr>
      </p:sp>
      <p:sp>
        <p:nvSpPr>
          <p:cNvPr id="182" name="Shape 160"/>
          <p:cNvSpPr/>
          <p:nvPr/>
        </p:nvSpPr>
        <p:spPr>
          <a:xfrm>
            <a:off x="3925267" y="14879910"/>
            <a:ext cx="1293391" cy="38100"/>
          </a:xfrm>
          <a:prstGeom prst="roundRect">
            <a:avLst>
              <a:gd name="adj" fmla="val 23605"/>
            </a:avLst>
          </a:prstGeom>
          <a:solidFill>
            <a:srgbClr val="FA95AE"/>
          </a:solidFill>
          <a:ln/>
        </p:spPr>
      </p:sp>
      <p:sp>
        <p:nvSpPr>
          <p:cNvPr id="183" name="Shape 161"/>
          <p:cNvSpPr/>
          <p:nvPr/>
        </p:nvSpPr>
        <p:spPr>
          <a:xfrm>
            <a:off x="4481996" y="14799543"/>
            <a:ext cx="179859" cy="179859"/>
          </a:xfrm>
          <a:prstGeom prst="roundRect">
            <a:avLst>
              <a:gd name="adj" fmla="val 317749"/>
            </a:avLst>
          </a:prstGeom>
          <a:solidFill>
            <a:srgbClr val="FA95AE"/>
          </a:solidFill>
          <a:ln/>
        </p:spPr>
      </p:sp>
      <p:sp>
        <p:nvSpPr>
          <p:cNvPr id="184" name="Text 162"/>
          <p:cNvSpPr/>
          <p:nvPr/>
        </p:nvSpPr>
        <p:spPr>
          <a:xfrm>
            <a:off x="4535946" y="14844489"/>
            <a:ext cx="71884" cy="89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550" dirty="0"/>
          </a:p>
        </p:txBody>
      </p:sp>
      <p:sp>
        <p:nvSpPr>
          <p:cNvPr id="185" name="Text 163"/>
          <p:cNvSpPr/>
          <p:nvPr/>
        </p:nvSpPr>
        <p:spPr>
          <a:xfrm>
            <a:off x="3994696" y="15039305"/>
            <a:ext cx="909042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Which URL is most likely fake?</a:t>
            </a:r>
            <a:endParaRPr lang="en-US" sz="550" dirty="0"/>
          </a:p>
        </p:txBody>
      </p:sp>
      <p:sp>
        <p:nvSpPr>
          <p:cNvPr id="186" name="Text 164"/>
          <p:cNvSpPr/>
          <p:nvPr/>
        </p:nvSpPr>
        <p:spPr>
          <a:xfrm>
            <a:off x="3994696" y="15150852"/>
            <a:ext cx="1154534" cy="21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https://www.paypal.com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https://www.paypa1.com 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✅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https://www.amazon.com</a:t>
            </a:r>
            <a:endParaRPr lang="en-US" sz="450" dirty="0"/>
          </a:p>
        </p:txBody>
      </p:sp>
      <p:sp>
        <p:nvSpPr>
          <p:cNvPr id="187" name="Shape 165"/>
          <p:cNvSpPr/>
          <p:nvPr/>
        </p:nvSpPr>
        <p:spPr>
          <a:xfrm>
            <a:off x="5248573" y="14889435"/>
            <a:ext cx="1293465" cy="546720"/>
          </a:xfrm>
          <a:prstGeom prst="roundRect">
            <a:avLst>
              <a:gd name="adj" fmla="val 8363"/>
            </a:avLst>
          </a:prstGeom>
          <a:solidFill>
            <a:srgbClr val="1F1F1F"/>
          </a:solidFill>
          <a:ln w="9525">
            <a:solidFill>
              <a:srgbClr val="575757"/>
            </a:solidFill>
            <a:prstDash val="solid"/>
          </a:ln>
        </p:spPr>
      </p:sp>
      <p:sp>
        <p:nvSpPr>
          <p:cNvPr id="188" name="Shape 166"/>
          <p:cNvSpPr/>
          <p:nvPr/>
        </p:nvSpPr>
        <p:spPr>
          <a:xfrm>
            <a:off x="5248573" y="14879910"/>
            <a:ext cx="1293465" cy="38100"/>
          </a:xfrm>
          <a:prstGeom prst="roundRect">
            <a:avLst>
              <a:gd name="adj" fmla="val 23605"/>
            </a:avLst>
          </a:prstGeom>
          <a:solidFill>
            <a:srgbClr val="FA95AE"/>
          </a:solidFill>
          <a:ln/>
        </p:spPr>
      </p:sp>
      <p:sp>
        <p:nvSpPr>
          <p:cNvPr id="189" name="Shape 167"/>
          <p:cNvSpPr/>
          <p:nvPr/>
        </p:nvSpPr>
        <p:spPr>
          <a:xfrm>
            <a:off x="5805376" y="14799543"/>
            <a:ext cx="179859" cy="179859"/>
          </a:xfrm>
          <a:prstGeom prst="roundRect">
            <a:avLst>
              <a:gd name="adj" fmla="val 317749"/>
            </a:avLst>
          </a:prstGeom>
          <a:solidFill>
            <a:srgbClr val="FA95AE"/>
          </a:solidFill>
          <a:ln/>
        </p:spPr>
      </p:sp>
      <p:sp>
        <p:nvSpPr>
          <p:cNvPr id="190" name="Text 168"/>
          <p:cNvSpPr/>
          <p:nvPr/>
        </p:nvSpPr>
        <p:spPr>
          <a:xfrm>
            <a:off x="5859326" y="14844489"/>
            <a:ext cx="71884" cy="89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550" dirty="0"/>
          </a:p>
        </p:txBody>
      </p:sp>
      <p:sp>
        <p:nvSpPr>
          <p:cNvPr id="191" name="Text 169"/>
          <p:cNvSpPr/>
          <p:nvPr/>
        </p:nvSpPr>
        <p:spPr>
          <a:xfrm>
            <a:off x="5318001" y="15039305"/>
            <a:ext cx="796082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 does HTTPS indicate?</a:t>
            </a:r>
            <a:endParaRPr lang="en-US" sz="550" dirty="0"/>
          </a:p>
        </p:txBody>
      </p:sp>
      <p:sp>
        <p:nvSpPr>
          <p:cNvPr id="192" name="Text 170"/>
          <p:cNvSpPr/>
          <p:nvPr/>
        </p:nvSpPr>
        <p:spPr>
          <a:xfrm>
            <a:off x="5318001" y="15150852"/>
            <a:ext cx="1154609" cy="21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The site is completely safe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The connection is encrypted 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✅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The site is owned by the government</a:t>
            </a:r>
            <a:endParaRPr lang="en-US" sz="450" dirty="0"/>
          </a:p>
        </p:txBody>
      </p:sp>
      <p:sp>
        <p:nvSpPr>
          <p:cNvPr id="193" name="Shape 171"/>
          <p:cNvSpPr/>
          <p:nvPr/>
        </p:nvSpPr>
        <p:spPr>
          <a:xfrm>
            <a:off x="2601962" y="15555962"/>
            <a:ext cx="1955081" cy="546720"/>
          </a:xfrm>
          <a:prstGeom prst="roundRect">
            <a:avLst>
              <a:gd name="adj" fmla="val 8363"/>
            </a:avLst>
          </a:prstGeom>
          <a:solidFill>
            <a:srgbClr val="1F1F1F"/>
          </a:solidFill>
          <a:ln w="9525">
            <a:solidFill>
              <a:srgbClr val="575757"/>
            </a:solidFill>
            <a:prstDash val="solid"/>
          </a:ln>
        </p:spPr>
      </p:sp>
      <p:sp>
        <p:nvSpPr>
          <p:cNvPr id="194" name="Shape 172"/>
          <p:cNvSpPr/>
          <p:nvPr/>
        </p:nvSpPr>
        <p:spPr>
          <a:xfrm>
            <a:off x="2601962" y="15546437"/>
            <a:ext cx="1955081" cy="38100"/>
          </a:xfrm>
          <a:prstGeom prst="roundRect">
            <a:avLst>
              <a:gd name="adj" fmla="val 23605"/>
            </a:avLst>
          </a:prstGeom>
          <a:solidFill>
            <a:srgbClr val="FA95AE"/>
          </a:solidFill>
          <a:ln/>
        </p:spPr>
      </p:sp>
      <p:sp>
        <p:nvSpPr>
          <p:cNvPr id="195" name="Shape 173"/>
          <p:cNvSpPr/>
          <p:nvPr/>
        </p:nvSpPr>
        <p:spPr>
          <a:xfrm>
            <a:off x="3489536" y="15466070"/>
            <a:ext cx="179859" cy="179859"/>
          </a:xfrm>
          <a:prstGeom prst="roundRect">
            <a:avLst>
              <a:gd name="adj" fmla="val 317749"/>
            </a:avLst>
          </a:prstGeom>
          <a:solidFill>
            <a:srgbClr val="FA95AE"/>
          </a:solidFill>
          <a:ln/>
        </p:spPr>
      </p:sp>
      <p:sp>
        <p:nvSpPr>
          <p:cNvPr id="196" name="Text 174"/>
          <p:cNvSpPr/>
          <p:nvPr/>
        </p:nvSpPr>
        <p:spPr>
          <a:xfrm>
            <a:off x="3543486" y="15511016"/>
            <a:ext cx="71884" cy="89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</a:t>
            </a:r>
            <a:endParaRPr lang="en-US" sz="550" dirty="0"/>
          </a:p>
        </p:txBody>
      </p:sp>
      <p:sp>
        <p:nvSpPr>
          <p:cNvPr id="197" name="Text 175"/>
          <p:cNvSpPr/>
          <p:nvPr/>
        </p:nvSpPr>
        <p:spPr>
          <a:xfrm>
            <a:off x="2671390" y="15705832"/>
            <a:ext cx="835298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 is social engineering?</a:t>
            </a:r>
            <a:endParaRPr lang="en-US" sz="550" dirty="0"/>
          </a:p>
        </p:txBody>
      </p:sp>
      <p:sp>
        <p:nvSpPr>
          <p:cNvPr id="198" name="Text 176"/>
          <p:cNvSpPr/>
          <p:nvPr/>
        </p:nvSpPr>
        <p:spPr>
          <a:xfrm>
            <a:off x="2671390" y="15817379"/>
            <a:ext cx="1816224" cy="21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 type of antivirus software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Manipulating people to reveal information 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✅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 secure login method</a:t>
            </a:r>
            <a:endParaRPr lang="en-US" sz="450" dirty="0"/>
          </a:p>
        </p:txBody>
      </p:sp>
      <p:sp>
        <p:nvSpPr>
          <p:cNvPr id="199" name="Shape 177"/>
          <p:cNvSpPr/>
          <p:nvPr/>
        </p:nvSpPr>
        <p:spPr>
          <a:xfrm>
            <a:off x="4586957" y="15555962"/>
            <a:ext cx="1955081" cy="546720"/>
          </a:xfrm>
          <a:prstGeom prst="roundRect">
            <a:avLst>
              <a:gd name="adj" fmla="val 8363"/>
            </a:avLst>
          </a:prstGeom>
          <a:solidFill>
            <a:srgbClr val="1F1F1F"/>
          </a:solidFill>
          <a:ln w="9525">
            <a:solidFill>
              <a:srgbClr val="575757"/>
            </a:solidFill>
            <a:prstDash val="solid"/>
          </a:ln>
        </p:spPr>
      </p:sp>
      <p:sp>
        <p:nvSpPr>
          <p:cNvPr id="200" name="Shape 178"/>
          <p:cNvSpPr/>
          <p:nvPr/>
        </p:nvSpPr>
        <p:spPr>
          <a:xfrm>
            <a:off x="4586957" y="15546437"/>
            <a:ext cx="1955081" cy="38100"/>
          </a:xfrm>
          <a:prstGeom prst="roundRect">
            <a:avLst>
              <a:gd name="adj" fmla="val 23605"/>
            </a:avLst>
          </a:prstGeom>
          <a:solidFill>
            <a:srgbClr val="FA95AE"/>
          </a:solidFill>
          <a:ln/>
        </p:spPr>
      </p:sp>
      <p:sp>
        <p:nvSpPr>
          <p:cNvPr id="201" name="Shape 179"/>
          <p:cNvSpPr/>
          <p:nvPr/>
        </p:nvSpPr>
        <p:spPr>
          <a:xfrm>
            <a:off x="5474531" y="15466070"/>
            <a:ext cx="179859" cy="179859"/>
          </a:xfrm>
          <a:prstGeom prst="roundRect">
            <a:avLst>
              <a:gd name="adj" fmla="val 317749"/>
            </a:avLst>
          </a:prstGeom>
          <a:solidFill>
            <a:srgbClr val="FA95AE"/>
          </a:solidFill>
          <a:ln/>
        </p:spPr>
      </p:sp>
      <p:sp>
        <p:nvSpPr>
          <p:cNvPr id="202" name="Text 180"/>
          <p:cNvSpPr/>
          <p:nvPr/>
        </p:nvSpPr>
        <p:spPr>
          <a:xfrm>
            <a:off x="5528481" y="15511016"/>
            <a:ext cx="71884" cy="89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5</a:t>
            </a:r>
            <a:endParaRPr lang="en-US" sz="550" dirty="0"/>
          </a:p>
        </p:txBody>
      </p:sp>
      <p:sp>
        <p:nvSpPr>
          <p:cNvPr id="203" name="Text 181"/>
          <p:cNvSpPr/>
          <p:nvPr/>
        </p:nvSpPr>
        <p:spPr>
          <a:xfrm>
            <a:off x="4656386" y="15705832"/>
            <a:ext cx="1342876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An email creates urgency — what do you do?</a:t>
            </a:r>
            <a:endParaRPr lang="en-US" sz="550" dirty="0"/>
          </a:p>
        </p:txBody>
      </p:sp>
      <p:sp>
        <p:nvSpPr>
          <p:cNvPr id="204" name="Text 182"/>
          <p:cNvSpPr/>
          <p:nvPr/>
        </p:nvSpPr>
        <p:spPr>
          <a:xfrm>
            <a:off x="4656386" y="15817379"/>
            <a:ext cx="1816224" cy="21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Click the link immediately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Pause, verify sender, and investigate 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✅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C)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Forward to all colleagues</a:t>
            </a:r>
            <a:endParaRPr lang="en-US" sz="450" dirty="0"/>
          </a:p>
        </p:txBody>
      </p:sp>
      <p:sp>
        <p:nvSpPr>
          <p:cNvPr id="205" name="Text 183"/>
          <p:cNvSpPr/>
          <p:nvPr/>
        </p:nvSpPr>
        <p:spPr>
          <a:xfrm>
            <a:off x="2601962" y="16147628"/>
            <a:ext cx="2591172" cy="15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Bonus Activity — Spot the Phishing Signs!</a:t>
            </a:r>
            <a:endParaRPr lang="en-US" sz="900" dirty="0"/>
          </a:p>
        </p:txBody>
      </p:sp>
      <p:sp>
        <p:nvSpPr>
          <p:cNvPr id="206" name="Text 184"/>
          <p:cNvSpPr/>
          <p:nvPr/>
        </p:nvSpPr>
        <p:spPr>
          <a:xfrm>
            <a:off x="2601962" y="16351895"/>
            <a:ext cx="4397276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Examine this sample phishing email and identify the hidden red flags:</a:t>
            </a:r>
            <a:endParaRPr lang="en-US" sz="450" dirty="0"/>
          </a:p>
        </p:txBody>
      </p:sp>
      <p:sp>
        <p:nvSpPr>
          <p:cNvPr id="207" name="Shape 185"/>
          <p:cNvSpPr/>
          <p:nvPr/>
        </p:nvSpPr>
        <p:spPr>
          <a:xfrm>
            <a:off x="2601962" y="16457563"/>
            <a:ext cx="3940076" cy="461516"/>
          </a:xfrm>
          <a:prstGeom prst="roundRect">
            <a:avLst>
              <a:gd name="adj" fmla="val 1949"/>
            </a:avLst>
          </a:prstGeom>
          <a:solidFill>
            <a:srgbClr val="4B3F02"/>
          </a:solidFill>
          <a:ln/>
        </p:spPr>
      </p:sp>
      <p:pic>
        <p:nvPicPr>
          <p:cNvPr id="208" name="Image 20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661865" y="16537112"/>
            <a:ext cx="74935" cy="59903"/>
          </a:xfrm>
          <a:prstGeom prst="rect">
            <a:avLst/>
          </a:prstGeom>
        </p:spPr>
      </p:pic>
      <p:sp>
        <p:nvSpPr>
          <p:cNvPr id="209" name="Text 186"/>
          <p:cNvSpPr/>
          <p:nvPr/>
        </p:nvSpPr>
        <p:spPr>
          <a:xfrm>
            <a:off x="2796704" y="16502435"/>
            <a:ext cx="3685431" cy="359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From: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"Microsoft Security" &lt;support@m1crosoft-alert.com&gt;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Subject: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⚠️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URGENT: Suspicious login detected on your account!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Body: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"We detected an unusual login attempt. Your account will be suspended in 24 hours unless you verify your identity. Click here to secure your account now. — Microsoft Security Team"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Link: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hxxp://m1crosoft-verify.xyz/login </a:t>
            </a:r>
            <a:endParaRPr lang="en-US" sz="450" dirty="0"/>
          </a:p>
        </p:txBody>
      </p:sp>
      <p:sp>
        <p:nvSpPr>
          <p:cNvPr id="210" name="Shape 187"/>
          <p:cNvSpPr/>
          <p:nvPr/>
        </p:nvSpPr>
        <p:spPr>
          <a:xfrm>
            <a:off x="2601962" y="16952788"/>
            <a:ext cx="962546" cy="380033"/>
          </a:xfrm>
          <a:prstGeom prst="roundRect">
            <a:avLst>
              <a:gd name="adj" fmla="val 2366"/>
            </a:avLst>
          </a:prstGeom>
          <a:solidFill>
            <a:srgbClr val="3E3E3E"/>
          </a:solidFill>
          <a:ln/>
        </p:spPr>
      </p:sp>
      <p:sp>
        <p:nvSpPr>
          <p:cNvPr id="211" name="Text 188"/>
          <p:cNvSpPr/>
          <p:nvPr/>
        </p:nvSpPr>
        <p:spPr>
          <a:xfrm>
            <a:off x="2661865" y="17012692"/>
            <a:ext cx="749424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Fake Domain</a:t>
            </a:r>
            <a:endParaRPr lang="en-US" sz="550" dirty="0"/>
          </a:p>
        </p:txBody>
      </p:sp>
      <p:sp>
        <p:nvSpPr>
          <p:cNvPr id="212" name="Text 189"/>
          <p:cNvSpPr/>
          <p:nvPr/>
        </p:nvSpPr>
        <p:spPr>
          <a:xfrm>
            <a:off x="2661865" y="17129001"/>
            <a:ext cx="842739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m1crosoft-alert.com (not microsoft.com)</a:t>
            </a:r>
            <a:endParaRPr lang="en-US" sz="450" dirty="0"/>
          </a:p>
        </p:txBody>
      </p:sp>
      <p:sp>
        <p:nvSpPr>
          <p:cNvPr id="213" name="Shape 190"/>
          <p:cNvSpPr/>
          <p:nvPr/>
        </p:nvSpPr>
        <p:spPr>
          <a:xfrm>
            <a:off x="3594422" y="16952788"/>
            <a:ext cx="962620" cy="380033"/>
          </a:xfrm>
          <a:prstGeom prst="roundRect">
            <a:avLst>
              <a:gd name="adj" fmla="val 2366"/>
            </a:avLst>
          </a:prstGeom>
          <a:solidFill>
            <a:srgbClr val="3E3E3E"/>
          </a:solidFill>
          <a:ln/>
        </p:spPr>
      </p:sp>
      <p:sp>
        <p:nvSpPr>
          <p:cNvPr id="214" name="Text 191"/>
          <p:cNvSpPr/>
          <p:nvPr/>
        </p:nvSpPr>
        <p:spPr>
          <a:xfrm>
            <a:off x="3654326" y="17012692"/>
            <a:ext cx="749424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Urgency</a:t>
            </a:r>
            <a:endParaRPr lang="en-US" sz="550" dirty="0"/>
          </a:p>
        </p:txBody>
      </p:sp>
      <p:sp>
        <p:nvSpPr>
          <p:cNvPr id="215" name="Text 192"/>
          <p:cNvSpPr/>
          <p:nvPr/>
        </p:nvSpPr>
        <p:spPr>
          <a:xfrm>
            <a:off x="3654326" y="17129001"/>
            <a:ext cx="842814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"Suspended in 24 hours" pressure tactic</a:t>
            </a:r>
            <a:endParaRPr lang="en-US" sz="450" dirty="0"/>
          </a:p>
        </p:txBody>
      </p:sp>
      <p:sp>
        <p:nvSpPr>
          <p:cNvPr id="216" name="Shape 193"/>
          <p:cNvSpPr/>
          <p:nvPr/>
        </p:nvSpPr>
        <p:spPr>
          <a:xfrm>
            <a:off x="4586957" y="16952788"/>
            <a:ext cx="962546" cy="380033"/>
          </a:xfrm>
          <a:prstGeom prst="roundRect">
            <a:avLst>
              <a:gd name="adj" fmla="val 2366"/>
            </a:avLst>
          </a:prstGeom>
          <a:solidFill>
            <a:srgbClr val="3E3E3E"/>
          </a:solidFill>
          <a:ln/>
        </p:spPr>
      </p:sp>
      <p:sp>
        <p:nvSpPr>
          <p:cNvPr id="217" name="Text 194"/>
          <p:cNvSpPr/>
          <p:nvPr/>
        </p:nvSpPr>
        <p:spPr>
          <a:xfrm>
            <a:off x="4646861" y="17012692"/>
            <a:ext cx="749424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Malicious Link</a:t>
            </a:r>
            <a:endParaRPr lang="en-US" sz="550" dirty="0"/>
          </a:p>
        </p:txBody>
      </p:sp>
      <p:sp>
        <p:nvSpPr>
          <p:cNvPr id="218" name="Text 195"/>
          <p:cNvSpPr/>
          <p:nvPr/>
        </p:nvSpPr>
        <p:spPr>
          <a:xfrm>
            <a:off x="4646861" y="17129001"/>
            <a:ext cx="842739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m1crosoft-verify.xyz is a fake domain</a:t>
            </a:r>
            <a:endParaRPr lang="en-US" sz="450" dirty="0"/>
          </a:p>
        </p:txBody>
      </p:sp>
      <p:sp>
        <p:nvSpPr>
          <p:cNvPr id="219" name="Shape 196"/>
          <p:cNvSpPr/>
          <p:nvPr/>
        </p:nvSpPr>
        <p:spPr>
          <a:xfrm>
            <a:off x="5579418" y="16952788"/>
            <a:ext cx="962620" cy="380033"/>
          </a:xfrm>
          <a:prstGeom prst="roundRect">
            <a:avLst>
              <a:gd name="adj" fmla="val 2366"/>
            </a:avLst>
          </a:prstGeom>
          <a:solidFill>
            <a:srgbClr val="3E3E3E"/>
          </a:solidFill>
          <a:ln/>
        </p:spPr>
      </p:sp>
      <p:sp>
        <p:nvSpPr>
          <p:cNvPr id="220" name="Text 197"/>
          <p:cNvSpPr/>
          <p:nvPr/>
        </p:nvSpPr>
        <p:spPr>
          <a:xfrm>
            <a:off x="5639321" y="17012692"/>
            <a:ext cx="749424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Generic Greeting</a:t>
            </a:r>
            <a:endParaRPr lang="en-US" sz="550" dirty="0"/>
          </a:p>
        </p:txBody>
      </p:sp>
      <p:sp>
        <p:nvSpPr>
          <p:cNvPr id="221" name="Text 198"/>
          <p:cNvSpPr/>
          <p:nvPr/>
        </p:nvSpPr>
        <p:spPr>
          <a:xfrm>
            <a:off x="5639321" y="17129001"/>
            <a:ext cx="842814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 personal name, uses "your account"</a:t>
            </a:r>
            <a:endParaRPr lang="en-US" sz="450" dirty="0"/>
          </a:p>
        </p:txBody>
      </p:sp>
      <p:sp>
        <p:nvSpPr>
          <p:cNvPr id="222" name="Text 199"/>
          <p:cNvSpPr/>
          <p:nvPr/>
        </p:nvSpPr>
        <p:spPr>
          <a:xfrm>
            <a:off x="2601962" y="17377767"/>
            <a:ext cx="1656308" cy="15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🛡️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Key Takeaways</a:t>
            </a:r>
            <a:endParaRPr lang="en-US" sz="900" dirty="0"/>
          </a:p>
        </p:txBody>
      </p:sp>
      <p:sp>
        <p:nvSpPr>
          <p:cNvPr id="223" name="Shape 200"/>
          <p:cNvSpPr/>
          <p:nvPr/>
        </p:nvSpPr>
        <p:spPr>
          <a:xfrm>
            <a:off x="2601962" y="17582034"/>
            <a:ext cx="1955081" cy="513085"/>
          </a:xfrm>
          <a:prstGeom prst="roundRect">
            <a:avLst>
              <a:gd name="adj" fmla="val 1753"/>
            </a:avLst>
          </a:prstGeom>
          <a:solidFill>
            <a:srgbClr val="3E3E3E"/>
          </a:solidFill>
          <a:ln/>
        </p:spPr>
      </p:sp>
      <p:sp>
        <p:nvSpPr>
          <p:cNvPr id="224" name="Shape 201"/>
          <p:cNvSpPr/>
          <p:nvPr/>
        </p:nvSpPr>
        <p:spPr>
          <a:xfrm>
            <a:off x="2661865" y="17641937"/>
            <a:ext cx="179859" cy="179859"/>
          </a:xfrm>
          <a:prstGeom prst="roundRect">
            <a:avLst>
              <a:gd name="adj" fmla="val 31771713"/>
            </a:avLst>
          </a:prstGeom>
          <a:solidFill>
            <a:srgbClr val="FA95AE"/>
          </a:solidFill>
          <a:ln/>
        </p:spPr>
      </p:sp>
      <p:pic>
        <p:nvPicPr>
          <p:cNvPr id="225" name="Image 21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711351" y="17691422"/>
            <a:ext cx="80888" cy="80888"/>
          </a:xfrm>
          <a:prstGeom prst="rect">
            <a:avLst/>
          </a:prstGeom>
        </p:spPr>
      </p:pic>
      <p:sp>
        <p:nvSpPr>
          <p:cNvPr id="226" name="Text 202"/>
          <p:cNvSpPr/>
          <p:nvPr/>
        </p:nvSpPr>
        <p:spPr>
          <a:xfrm>
            <a:off x="2661865" y="17851710"/>
            <a:ext cx="749424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Think Before You Click</a:t>
            </a:r>
            <a:endParaRPr lang="en-US" sz="550" dirty="0"/>
          </a:p>
        </p:txBody>
      </p:sp>
      <p:sp>
        <p:nvSpPr>
          <p:cNvPr id="227" name="Text 203"/>
          <p:cNvSpPr/>
          <p:nvPr/>
        </p:nvSpPr>
        <p:spPr>
          <a:xfrm>
            <a:off x="2661865" y="17963257"/>
            <a:ext cx="1835274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Pause and evaluate every link and attachment.</a:t>
            </a:r>
            <a:endParaRPr lang="en-US" sz="450" dirty="0"/>
          </a:p>
        </p:txBody>
      </p:sp>
      <p:sp>
        <p:nvSpPr>
          <p:cNvPr id="228" name="Shape 204"/>
          <p:cNvSpPr/>
          <p:nvPr/>
        </p:nvSpPr>
        <p:spPr>
          <a:xfrm>
            <a:off x="4586957" y="17582034"/>
            <a:ext cx="1955081" cy="513085"/>
          </a:xfrm>
          <a:prstGeom prst="roundRect">
            <a:avLst>
              <a:gd name="adj" fmla="val 1753"/>
            </a:avLst>
          </a:prstGeom>
          <a:solidFill>
            <a:srgbClr val="3E3E3E"/>
          </a:solidFill>
          <a:ln/>
        </p:spPr>
      </p:sp>
      <p:sp>
        <p:nvSpPr>
          <p:cNvPr id="229" name="Shape 205"/>
          <p:cNvSpPr/>
          <p:nvPr/>
        </p:nvSpPr>
        <p:spPr>
          <a:xfrm>
            <a:off x="4646861" y="17641937"/>
            <a:ext cx="179859" cy="179859"/>
          </a:xfrm>
          <a:prstGeom prst="roundRect">
            <a:avLst>
              <a:gd name="adj" fmla="val 31771713"/>
            </a:avLst>
          </a:prstGeom>
          <a:solidFill>
            <a:srgbClr val="FA95AE"/>
          </a:solidFill>
          <a:ln/>
        </p:spPr>
      </p:sp>
      <p:pic>
        <p:nvPicPr>
          <p:cNvPr id="230" name="Image 22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4696346" y="17691422"/>
            <a:ext cx="80888" cy="80888"/>
          </a:xfrm>
          <a:prstGeom prst="rect">
            <a:avLst/>
          </a:prstGeom>
        </p:spPr>
      </p:pic>
      <p:sp>
        <p:nvSpPr>
          <p:cNvPr id="231" name="Text 206"/>
          <p:cNvSpPr/>
          <p:nvPr/>
        </p:nvSpPr>
        <p:spPr>
          <a:xfrm>
            <a:off x="4646861" y="17851710"/>
            <a:ext cx="749424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Verify Emails &amp; URLs</a:t>
            </a:r>
            <a:endParaRPr lang="en-US" sz="550" dirty="0"/>
          </a:p>
        </p:txBody>
      </p:sp>
      <p:sp>
        <p:nvSpPr>
          <p:cNvPr id="232" name="Text 207"/>
          <p:cNvSpPr/>
          <p:nvPr/>
        </p:nvSpPr>
        <p:spPr>
          <a:xfrm>
            <a:off x="4646861" y="17963257"/>
            <a:ext cx="1835274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Check sender addresses and website URLs carefully.</a:t>
            </a:r>
            <a:endParaRPr lang="en-US" sz="450" dirty="0"/>
          </a:p>
        </p:txBody>
      </p:sp>
      <p:sp>
        <p:nvSpPr>
          <p:cNvPr id="233" name="Shape 208"/>
          <p:cNvSpPr/>
          <p:nvPr/>
        </p:nvSpPr>
        <p:spPr>
          <a:xfrm>
            <a:off x="2601962" y="18125033"/>
            <a:ext cx="1955081" cy="513085"/>
          </a:xfrm>
          <a:prstGeom prst="roundRect">
            <a:avLst>
              <a:gd name="adj" fmla="val 1753"/>
            </a:avLst>
          </a:prstGeom>
          <a:solidFill>
            <a:srgbClr val="3E3E3E"/>
          </a:solidFill>
          <a:ln/>
        </p:spPr>
      </p:sp>
      <p:sp>
        <p:nvSpPr>
          <p:cNvPr id="234" name="Shape 209"/>
          <p:cNvSpPr/>
          <p:nvPr/>
        </p:nvSpPr>
        <p:spPr>
          <a:xfrm>
            <a:off x="2661865" y="18184937"/>
            <a:ext cx="179859" cy="179859"/>
          </a:xfrm>
          <a:prstGeom prst="roundRect">
            <a:avLst>
              <a:gd name="adj" fmla="val 31771713"/>
            </a:avLst>
          </a:prstGeom>
          <a:solidFill>
            <a:srgbClr val="FA95AE"/>
          </a:solidFill>
          <a:ln/>
        </p:spPr>
      </p:sp>
      <p:pic>
        <p:nvPicPr>
          <p:cNvPr id="235" name="Image 23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711351" y="18234422"/>
            <a:ext cx="80888" cy="80888"/>
          </a:xfrm>
          <a:prstGeom prst="rect">
            <a:avLst/>
          </a:prstGeom>
        </p:spPr>
      </p:pic>
      <p:sp>
        <p:nvSpPr>
          <p:cNvPr id="236" name="Text 210"/>
          <p:cNvSpPr/>
          <p:nvPr/>
        </p:nvSpPr>
        <p:spPr>
          <a:xfrm>
            <a:off x="2661865" y="18394710"/>
            <a:ext cx="942826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Never Share Passwords or OTPs</a:t>
            </a:r>
            <a:endParaRPr lang="en-US" sz="550" dirty="0"/>
          </a:p>
        </p:txBody>
      </p:sp>
      <p:sp>
        <p:nvSpPr>
          <p:cNvPr id="237" name="Text 211"/>
          <p:cNvSpPr/>
          <p:nvPr/>
        </p:nvSpPr>
        <p:spPr>
          <a:xfrm>
            <a:off x="2661865" y="18506256"/>
            <a:ext cx="1835274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Legitimate organizations never ask for credentials via email.</a:t>
            </a:r>
            <a:endParaRPr lang="en-US" sz="450" dirty="0"/>
          </a:p>
        </p:txBody>
      </p:sp>
      <p:sp>
        <p:nvSpPr>
          <p:cNvPr id="238" name="Shape 212"/>
          <p:cNvSpPr/>
          <p:nvPr/>
        </p:nvSpPr>
        <p:spPr>
          <a:xfrm>
            <a:off x="4586957" y="18125033"/>
            <a:ext cx="1955081" cy="513085"/>
          </a:xfrm>
          <a:prstGeom prst="roundRect">
            <a:avLst>
              <a:gd name="adj" fmla="val 1753"/>
            </a:avLst>
          </a:prstGeom>
          <a:solidFill>
            <a:srgbClr val="3E3E3E"/>
          </a:solidFill>
          <a:ln/>
        </p:spPr>
      </p:sp>
      <p:sp>
        <p:nvSpPr>
          <p:cNvPr id="239" name="Shape 213"/>
          <p:cNvSpPr/>
          <p:nvPr/>
        </p:nvSpPr>
        <p:spPr>
          <a:xfrm>
            <a:off x="4646861" y="18184937"/>
            <a:ext cx="179859" cy="179859"/>
          </a:xfrm>
          <a:prstGeom prst="roundRect">
            <a:avLst>
              <a:gd name="adj" fmla="val 31771713"/>
            </a:avLst>
          </a:prstGeom>
          <a:solidFill>
            <a:srgbClr val="FA95AE"/>
          </a:solidFill>
          <a:ln/>
        </p:spPr>
      </p:sp>
      <p:pic>
        <p:nvPicPr>
          <p:cNvPr id="240" name="Image 24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4696346" y="18234422"/>
            <a:ext cx="80888" cy="80888"/>
          </a:xfrm>
          <a:prstGeom prst="rect">
            <a:avLst/>
          </a:prstGeom>
        </p:spPr>
      </p:pic>
      <p:sp>
        <p:nvSpPr>
          <p:cNvPr id="241" name="Text 214"/>
          <p:cNvSpPr/>
          <p:nvPr/>
        </p:nvSpPr>
        <p:spPr>
          <a:xfrm>
            <a:off x="4646861" y="18394710"/>
            <a:ext cx="749424" cy="9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Stay Alert Online</a:t>
            </a:r>
            <a:endParaRPr lang="en-US" sz="550" dirty="0"/>
          </a:p>
        </p:txBody>
      </p:sp>
      <p:sp>
        <p:nvSpPr>
          <p:cNvPr id="242" name="Text 215"/>
          <p:cNvSpPr/>
          <p:nvPr/>
        </p:nvSpPr>
        <p:spPr>
          <a:xfrm>
            <a:off x="4646861" y="18506256"/>
            <a:ext cx="1835274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Cybersecurity is everyone's responsibility — stay vigilant.</a:t>
            </a:r>
            <a:endParaRPr lang="en-US" sz="450" dirty="0"/>
          </a:p>
        </p:txBody>
      </p:sp>
      <p:sp>
        <p:nvSpPr>
          <p:cNvPr id="243" name="Text 216"/>
          <p:cNvSpPr/>
          <p:nvPr/>
        </p:nvSpPr>
        <p:spPr>
          <a:xfrm>
            <a:off x="2601962" y="18683064"/>
            <a:ext cx="1656308" cy="14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244" name="Text 217"/>
          <p:cNvSpPr/>
          <p:nvPr/>
        </p:nvSpPr>
        <p:spPr>
          <a:xfrm>
            <a:off x="2601962" y="18877806"/>
            <a:ext cx="3940076" cy="1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Cybersecurity awareness is not optional — it is essential. Phishing attacks are becoming more sophisticated, but with the right knowledge and habits, you can protect yourself and your organization. Remember: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human element is both the weakest link and the strongest defense.</a:t>
            </a:r>
            <a:endParaRPr lang="en-US" sz="450" dirty="0"/>
          </a:p>
        </p:txBody>
      </p:sp>
      <p:sp>
        <p:nvSpPr>
          <p:cNvPr id="245" name="Shape 218"/>
          <p:cNvSpPr/>
          <p:nvPr/>
        </p:nvSpPr>
        <p:spPr>
          <a:xfrm>
            <a:off x="2601962" y="19070389"/>
            <a:ext cx="3940076" cy="4465"/>
          </a:xfrm>
          <a:prstGeom prst="rect">
            <a:avLst/>
          </a:prstGeom>
          <a:solidFill>
            <a:srgbClr val="E0D6DE">
              <a:alpha val="50000"/>
            </a:srgbClr>
          </a:solidFill>
          <a:ln/>
        </p:spPr>
      </p:sp>
      <p:sp>
        <p:nvSpPr>
          <p:cNvPr id="246" name="Text 219"/>
          <p:cNvSpPr/>
          <p:nvPr/>
        </p:nvSpPr>
        <p:spPr>
          <a:xfrm>
            <a:off x="2601962" y="19134758"/>
            <a:ext cx="1956048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Thank You! 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🎉</a:t>
            </a:r>
            <a:endParaRPr lang="en-US" sz="1150" dirty="0"/>
          </a:p>
        </p:txBody>
      </p:sp>
      <p:sp>
        <p:nvSpPr>
          <p:cNvPr id="247" name="Text 220"/>
          <p:cNvSpPr/>
          <p:nvPr/>
        </p:nvSpPr>
        <p:spPr>
          <a:xfrm>
            <a:off x="2601962" y="19381291"/>
            <a:ext cx="2525613" cy="258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Stay Safe Online</a:t>
            </a:r>
            <a:endParaRPr lang="en-US" sz="1600" dirty="0"/>
          </a:p>
        </p:txBody>
      </p:sp>
      <p:sp>
        <p:nvSpPr>
          <p:cNvPr id="248" name="Text 221"/>
          <p:cNvSpPr/>
          <p:nvPr/>
        </p:nvSpPr>
        <p:spPr>
          <a:xfrm>
            <a:off x="2601962" y="19684826"/>
            <a:ext cx="4397276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Prepared by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Parimi Pujitha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· Internship: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CodeAlpha</a:t>
            </a:r>
            <a:endParaRPr lang="en-US" sz="450" dirty="0"/>
          </a:p>
        </p:txBody>
      </p:sp>
      <p:sp>
        <p:nvSpPr>
          <p:cNvPr id="249" name="Shape 222"/>
          <p:cNvSpPr/>
          <p:nvPr/>
        </p:nvSpPr>
        <p:spPr>
          <a:xfrm>
            <a:off x="2601962" y="19795257"/>
            <a:ext cx="754559" cy="93464"/>
          </a:xfrm>
          <a:prstGeom prst="roundRect">
            <a:avLst>
              <a:gd name="adj" fmla="val 7698"/>
            </a:avLst>
          </a:prstGeom>
          <a:solidFill>
            <a:srgbClr val="490315"/>
          </a:solidFill>
          <a:ln/>
        </p:spPr>
      </p:sp>
      <p:pic>
        <p:nvPicPr>
          <p:cNvPr id="250" name="Image 25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2637904" y="19818028"/>
            <a:ext cx="47923" cy="47923"/>
          </a:xfrm>
          <a:prstGeom prst="rect">
            <a:avLst/>
          </a:prstGeom>
        </p:spPr>
      </p:pic>
      <p:sp>
        <p:nvSpPr>
          <p:cNvPr id="251" name="Text 223"/>
          <p:cNvSpPr/>
          <p:nvPr/>
        </p:nvSpPr>
        <p:spPr>
          <a:xfrm>
            <a:off x="2709788" y="19813191"/>
            <a:ext cx="1067991" cy="5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CYBERSECURITY AWARENESS</a:t>
            </a:r>
            <a:endParaRPr lang="en-US" sz="350" dirty="0"/>
          </a:p>
        </p:txBody>
      </p:sp>
      <p:sp>
        <p:nvSpPr>
          <p:cNvPr id="252" name="Shape 224"/>
          <p:cNvSpPr/>
          <p:nvPr/>
        </p:nvSpPr>
        <p:spPr>
          <a:xfrm>
            <a:off x="3386435" y="19790494"/>
            <a:ext cx="645319" cy="102989"/>
          </a:xfrm>
          <a:prstGeom prst="roundRect">
            <a:avLst>
              <a:gd name="adj" fmla="val 6986"/>
            </a:avLst>
          </a:prstGeom>
          <a:noFill/>
          <a:ln w="4763">
            <a:solidFill>
              <a:srgbClr val="FA95AE"/>
            </a:solidFill>
            <a:prstDash val="solid"/>
          </a:ln>
        </p:spPr>
      </p:sp>
      <p:pic>
        <p:nvPicPr>
          <p:cNvPr id="253" name="Image 26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3427140" y="19818028"/>
            <a:ext cx="47923" cy="47923"/>
          </a:xfrm>
          <a:prstGeom prst="rect">
            <a:avLst/>
          </a:prstGeom>
        </p:spPr>
      </p:pic>
      <p:sp>
        <p:nvSpPr>
          <p:cNvPr id="254" name="Text 225"/>
          <p:cNvSpPr/>
          <p:nvPr/>
        </p:nvSpPr>
        <p:spPr>
          <a:xfrm>
            <a:off x="3499024" y="19813191"/>
            <a:ext cx="949226" cy="5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PHISHING PROTECTION</a:t>
            </a:r>
            <a:endParaRPr lang="en-US" sz="350" dirty="0"/>
          </a:p>
        </p:txBody>
      </p:sp>
      <p:sp>
        <p:nvSpPr>
          <p:cNvPr id="255" name="Shape 226"/>
          <p:cNvSpPr/>
          <p:nvPr/>
        </p:nvSpPr>
        <p:spPr>
          <a:xfrm>
            <a:off x="4061668" y="19790494"/>
            <a:ext cx="458912" cy="102989"/>
          </a:xfrm>
          <a:prstGeom prst="roundRect">
            <a:avLst>
              <a:gd name="adj" fmla="val 6986"/>
            </a:avLst>
          </a:prstGeom>
          <a:noFill/>
          <a:ln w="4763">
            <a:solidFill>
              <a:srgbClr val="FA95AE"/>
            </a:solidFill>
            <a:prstDash val="solid"/>
          </a:ln>
        </p:spPr>
      </p:sp>
      <p:pic>
        <p:nvPicPr>
          <p:cNvPr id="256" name="Image 27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4102373" y="19818028"/>
            <a:ext cx="47923" cy="47923"/>
          </a:xfrm>
          <a:prstGeom prst="rect">
            <a:avLst/>
          </a:prstGeom>
        </p:spPr>
      </p:pic>
      <p:sp>
        <p:nvSpPr>
          <p:cNvPr id="257" name="Text 227"/>
          <p:cNvSpPr/>
          <p:nvPr/>
        </p:nvSpPr>
        <p:spPr>
          <a:xfrm>
            <a:off x="4174257" y="19813191"/>
            <a:ext cx="762819" cy="5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STAY VIGILANT</a:t>
            </a:r>
            <a:endParaRPr lang="en-US" sz="350" dirty="0"/>
          </a:p>
        </p:txBody>
      </p:sp>
      <p:sp>
        <p:nvSpPr>
          <p:cNvPr id="258" name="Text 228"/>
          <p:cNvSpPr/>
          <p:nvPr/>
        </p:nvSpPr>
        <p:spPr>
          <a:xfrm>
            <a:off x="2601962" y="19927193"/>
            <a:ext cx="3940076" cy="249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450" i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"The only truly secure system is one that is powered off, cast in a block of concrete and sealed in a lead-lined room with armed guards." — Gene Spafford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Parimi Pujitha</a:t>
            </a:r>
            <a:endParaRPr lang="en-US" sz="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2026-05-28T06:22:45Z</dcterms:created>
  <dcterms:modified xsi:type="dcterms:W3CDTF">2026-05-28T06:22:45Z</dcterms:modified>
</cp:coreProperties>
</file>